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sldIdLst>
    <p:sldId id="289" r:id="rId3"/>
    <p:sldId id="260" r:id="rId4"/>
    <p:sldId id="278" r:id="rId5"/>
    <p:sldId id="290" r:id="rId6"/>
    <p:sldId id="264" r:id="rId7"/>
    <p:sldId id="291" r:id="rId8"/>
    <p:sldId id="293" r:id="rId9"/>
    <p:sldId id="294" r:id="rId10"/>
    <p:sldId id="295" r:id="rId11"/>
    <p:sldId id="296" r:id="rId12"/>
    <p:sldId id="297" r:id="rId13"/>
    <p:sldId id="298" r:id="rId14"/>
    <p:sldId id="299" r:id="rId15"/>
    <p:sldId id="300" r:id="rId16"/>
    <p:sldId id="301" r:id="rId17"/>
    <p:sldId id="302" r:id="rId18"/>
    <p:sldId id="303" r:id="rId19"/>
    <p:sldId id="259" r:id="rId20"/>
  </p:sldIdLst>
  <p:sldSz cx="9144000" cy="6858000" type="screen4x3"/>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BFE2F3"/>
    <a:srgbClr val="C31823"/>
    <a:srgbClr val="C9151E"/>
    <a:srgbClr val="E9CBBC"/>
    <a:srgbClr val="E0A487"/>
    <a:srgbClr val="D97C5B"/>
    <a:srgbClr val="CC141E"/>
    <a:srgbClr val="D05035"/>
    <a:srgbClr val="C816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27" autoAdjust="0"/>
    <p:restoredTop sz="94785" autoAdjust="0"/>
  </p:normalViewPr>
  <p:slideViewPr>
    <p:cSldViewPr snapToGrid="0">
      <p:cViewPr varScale="1">
        <p:scale>
          <a:sx n="79" d="100"/>
          <a:sy n="79" d="100"/>
        </p:scale>
        <p:origin x="1032" y="6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1616" y="5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gs" Target="tags/tag26.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D:\&#24494;&#20449;\xwechat_files\wxid_lx4iyzuixa4k12_91fd\msg\file\2025-05\G15%20Data.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'[G15 Data.xlsx]上证测试集 原始数据'!$B$1</c:f>
              <c:strCache>
                <c:ptCount val="1"/>
                <c:pt idx="0">
                  <c:v>Actual</c:v>
                </c:pt>
              </c:strCache>
            </c:strRef>
          </c:tx>
          <c:spPr>
            <a:ln w="28575" cap="rnd">
              <a:solidFill>
                <a:srgbClr val="4874CB"/>
              </a:solidFill>
              <a:round/>
            </a:ln>
            <a:effectLst/>
          </c:spPr>
          <c:marker>
            <c:symbol val="none"/>
          </c:marker>
          <c:dLbls>
            <c:delete val="1"/>
          </c:dLbls>
          <c:cat>
            <c:numRef>
              <c:f>'[G15 Data.xlsx]上证测试集 原始数据'!$A$2:$A$28</c:f>
              <c:numCache>
                <c:formatCode>yyyy\-mm\-dd</c:formatCode>
                <c:ptCount val="27"/>
                <c:pt idx="0" c:formatCode="yyyy\-mm\-dd">
                  <c:v>45734</c:v>
                </c:pt>
                <c:pt idx="1" c:formatCode="yyyy\-mm\-dd">
                  <c:v>45735</c:v>
                </c:pt>
                <c:pt idx="2" c:formatCode="yyyy\-mm\-dd">
                  <c:v>45736</c:v>
                </c:pt>
                <c:pt idx="3" c:formatCode="yyyy\-mm\-dd">
                  <c:v>45737</c:v>
                </c:pt>
                <c:pt idx="4" c:formatCode="yyyy\-mm\-dd">
                  <c:v>45740</c:v>
                </c:pt>
                <c:pt idx="5" c:formatCode="yyyy\-mm\-dd">
                  <c:v>45741</c:v>
                </c:pt>
                <c:pt idx="6" c:formatCode="yyyy\-mm\-dd">
                  <c:v>45742</c:v>
                </c:pt>
                <c:pt idx="7" c:formatCode="yyyy\-mm\-dd">
                  <c:v>45743</c:v>
                </c:pt>
                <c:pt idx="8" c:formatCode="yyyy\-mm\-dd">
                  <c:v>45744</c:v>
                </c:pt>
                <c:pt idx="9" c:formatCode="yyyy\-mm\-dd">
                  <c:v>45747</c:v>
                </c:pt>
                <c:pt idx="10" c:formatCode="yyyy\-mm\-dd">
                  <c:v>45748</c:v>
                </c:pt>
                <c:pt idx="11" c:formatCode="yyyy\-mm\-dd">
                  <c:v>45749</c:v>
                </c:pt>
                <c:pt idx="12" c:formatCode="yyyy\-mm\-dd">
                  <c:v>45750</c:v>
                </c:pt>
                <c:pt idx="13" c:formatCode="yyyy\-mm\-dd">
                  <c:v>45754</c:v>
                </c:pt>
                <c:pt idx="14" c:formatCode="yyyy\-mm\-dd">
                  <c:v>45755</c:v>
                </c:pt>
                <c:pt idx="15" c:formatCode="yyyy\-mm\-dd">
                  <c:v>45756</c:v>
                </c:pt>
                <c:pt idx="16" c:formatCode="yyyy\-mm\-dd">
                  <c:v>45757</c:v>
                </c:pt>
                <c:pt idx="17" c:formatCode="yyyy\-mm\-dd">
                  <c:v>45758</c:v>
                </c:pt>
                <c:pt idx="18" c:formatCode="yyyy\-mm\-dd">
                  <c:v>45761</c:v>
                </c:pt>
                <c:pt idx="19" c:formatCode="yyyy\-mm\-dd">
                  <c:v>45762</c:v>
                </c:pt>
                <c:pt idx="20" c:formatCode="yyyy\-mm\-dd">
                  <c:v>45763</c:v>
                </c:pt>
                <c:pt idx="21" c:formatCode="yyyy\-mm\-dd">
                  <c:v>45764</c:v>
                </c:pt>
                <c:pt idx="22" c:formatCode="yyyy\-mm\-dd">
                  <c:v>45765</c:v>
                </c:pt>
                <c:pt idx="23" c:formatCode="yyyy\-mm\-dd">
                  <c:v>45768</c:v>
                </c:pt>
                <c:pt idx="24" c:formatCode="yyyy\-mm\-dd">
                  <c:v>45769</c:v>
                </c:pt>
                <c:pt idx="25" c:formatCode="yyyy\-mm\-dd">
                  <c:v>45770</c:v>
                </c:pt>
                <c:pt idx="26" c:formatCode="yyyy\-mm\-dd">
                  <c:v>45771</c:v>
                </c:pt>
              </c:numCache>
            </c:numRef>
          </c:cat>
          <c:val>
            <c:numRef>
              <c:f>'[G15 Data.xlsx]上证测试集 原始数据'!$B$2:$B$28</c:f>
              <c:numCache>
                <c:formatCode>0.00_ </c:formatCode>
                <c:ptCount val="27"/>
                <c:pt idx="0">
                  <c:v>3429.76</c:v>
                </c:pt>
                <c:pt idx="1">
                  <c:v>3426.43</c:v>
                </c:pt>
                <c:pt idx="2">
                  <c:v>3408.95</c:v>
                </c:pt>
                <c:pt idx="3">
                  <c:v>3364.83</c:v>
                </c:pt>
                <c:pt idx="4">
                  <c:v>3370.03</c:v>
                </c:pt>
                <c:pt idx="5">
                  <c:v>3369.98</c:v>
                </c:pt>
                <c:pt idx="6">
                  <c:v>3368.7</c:v>
                </c:pt>
                <c:pt idx="7">
                  <c:v>3373.75</c:v>
                </c:pt>
                <c:pt idx="8">
                  <c:v>3351.31</c:v>
                </c:pt>
                <c:pt idx="9">
                  <c:v>3335.75</c:v>
                </c:pt>
                <c:pt idx="10">
                  <c:v>3348.44</c:v>
                </c:pt>
                <c:pt idx="11">
                  <c:v>3350.13</c:v>
                </c:pt>
                <c:pt idx="12">
                  <c:v>3342.01</c:v>
                </c:pt>
                <c:pt idx="13" c:formatCode="#,##0.00">
                  <c:v>3096.58</c:v>
                </c:pt>
                <c:pt idx="14" c:formatCode="#,##0.00">
                  <c:v>3145.55</c:v>
                </c:pt>
                <c:pt idx="15" c:formatCode="#,##0.00">
                  <c:v>3186.81</c:v>
                </c:pt>
                <c:pt idx="16" c:formatCode="#,##0.00">
                  <c:v>3223.64</c:v>
                </c:pt>
                <c:pt idx="17" c:formatCode="#,##0.00">
                  <c:v>3238.23</c:v>
                </c:pt>
                <c:pt idx="18" c:formatCode="#,##0.00">
                  <c:v>3262.81</c:v>
                </c:pt>
                <c:pt idx="19" c:formatCode="#,##0.00">
                  <c:v>3267.66</c:v>
                </c:pt>
                <c:pt idx="20" c:formatCode="#,##0.00">
                  <c:v>3276</c:v>
                </c:pt>
                <c:pt idx="21" c:formatCode="#,##0.00">
                  <c:v>3280.34</c:v>
                </c:pt>
                <c:pt idx="22" c:formatCode="#,##0.00">
                  <c:v>3276.73</c:v>
                </c:pt>
                <c:pt idx="23" c:formatCode="#,##0.00">
                  <c:v>3291.43</c:v>
                </c:pt>
                <c:pt idx="24" c:formatCode="#,##0.00">
                  <c:v>3299.76</c:v>
                </c:pt>
                <c:pt idx="25" c:formatCode="#,##0.00">
                  <c:v>3296.36</c:v>
                </c:pt>
                <c:pt idx="26" c:formatCode="#,##0.00">
                  <c:v>3297.29</c:v>
                </c:pt>
              </c:numCache>
            </c:numRef>
          </c:val>
          <c:smooth val="1"/>
        </c:ser>
        <c:ser>
          <c:idx val="1"/>
          <c:order val="1"/>
          <c:tx>
            <c:strRef>
              <c:f>'[G15 Data.xlsx]上证测试集 原始数据'!$C$1</c:f>
              <c:strCache>
                <c:ptCount val="1"/>
                <c:pt idx="0">
                  <c:v>Fitted</c:v>
                </c:pt>
              </c:strCache>
            </c:strRef>
          </c:tx>
          <c:spPr>
            <a:ln w="28575" cap="rnd">
              <a:solidFill>
                <a:schemeClr val="accent2"/>
              </a:solidFill>
              <a:round/>
            </a:ln>
            <a:effectLst/>
          </c:spPr>
          <c:marker>
            <c:symbol val="none"/>
          </c:marker>
          <c:dLbls>
            <c:delete val="1"/>
          </c:dLbls>
          <c:cat>
            <c:numRef>
              <c:f>'[G15 Data.xlsx]上证测试集 原始数据'!$A$2:$A$28</c:f>
              <c:numCache>
                <c:formatCode>yyyy\-mm\-dd</c:formatCode>
                <c:ptCount val="27"/>
                <c:pt idx="0" c:formatCode="yyyy\-mm\-dd">
                  <c:v>45734</c:v>
                </c:pt>
                <c:pt idx="1" c:formatCode="yyyy\-mm\-dd">
                  <c:v>45735</c:v>
                </c:pt>
                <c:pt idx="2" c:formatCode="yyyy\-mm\-dd">
                  <c:v>45736</c:v>
                </c:pt>
                <c:pt idx="3" c:formatCode="yyyy\-mm\-dd">
                  <c:v>45737</c:v>
                </c:pt>
                <c:pt idx="4" c:formatCode="yyyy\-mm\-dd">
                  <c:v>45740</c:v>
                </c:pt>
                <c:pt idx="5" c:formatCode="yyyy\-mm\-dd">
                  <c:v>45741</c:v>
                </c:pt>
                <c:pt idx="6" c:formatCode="yyyy\-mm\-dd">
                  <c:v>45742</c:v>
                </c:pt>
                <c:pt idx="7" c:formatCode="yyyy\-mm\-dd">
                  <c:v>45743</c:v>
                </c:pt>
                <c:pt idx="8" c:formatCode="yyyy\-mm\-dd">
                  <c:v>45744</c:v>
                </c:pt>
                <c:pt idx="9" c:formatCode="yyyy\-mm\-dd">
                  <c:v>45747</c:v>
                </c:pt>
                <c:pt idx="10" c:formatCode="yyyy\-mm\-dd">
                  <c:v>45748</c:v>
                </c:pt>
                <c:pt idx="11" c:formatCode="yyyy\-mm\-dd">
                  <c:v>45749</c:v>
                </c:pt>
                <c:pt idx="12" c:formatCode="yyyy\-mm\-dd">
                  <c:v>45750</c:v>
                </c:pt>
                <c:pt idx="13" c:formatCode="yyyy\-mm\-dd">
                  <c:v>45754</c:v>
                </c:pt>
                <c:pt idx="14" c:formatCode="yyyy\-mm\-dd">
                  <c:v>45755</c:v>
                </c:pt>
                <c:pt idx="15" c:formatCode="yyyy\-mm\-dd">
                  <c:v>45756</c:v>
                </c:pt>
                <c:pt idx="16" c:formatCode="yyyy\-mm\-dd">
                  <c:v>45757</c:v>
                </c:pt>
                <c:pt idx="17" c:formatCode="yyyy\-mm\-dd">
                  <c:v>45758</c:v>
                </c:pt>
                <c:pt idx="18" c:formatCode="yyyy\-mm\-dd">
                  <c:v>45761</c:v>
                </c:pt>
                <c:pt idx="19" c:formatCode="yyyy\-mm\-dd">
                  <c:v>45762</c:v>
                </c:pt>
                <c:pt idx="20" c:formatCode="yyyy\-mm\-dd">
                  <c:v>45763</c:v>
                </c:pt>
                <c:pt idx="21" c:formatCode="yyyy\-mm\-dd">
                  <c:v>45764</c:v>
                </c:pt>
                <c:pt idx="22" c:formatCode="yyyy\-mm\-dd">
                  <c:v>45765</c:v>
                </c:pt>
                <c:pt idx="23" c:formatCode="yyyy\-mm\-dd">
                  <c:v>45768</c:v>
                </c:pt>
                <c:pt idx="24" c:formatCode="yyyy\-mm\-dd">
                  <c:v>45769</c:v>
                </c:pt>
                <c:pt idx="25" c:formatCode="yyyy\-mm\-dd">
                  <c:v>45770</c:v>
                </c:pt>
                <c:pt idx="26" c:formatCode="yyyy\-mm\-dd">
                  <c:v>45771</c:v>
                </c:pt>
              </c:numCache>
            </c:numRef>
          </c:cat>
          <c:val>
            <c:numRef>
              <c:f>'[G15 Data.xlsx]上证测试集 原始数据'!$C$2:$C$28</c:f>
              <c:numCache>
                <c:formatCode>General</c:formatCode>
                <c:ptCount val="27"/>
                <c:pt idx="11" c:formatCode="#,##0.00">
                  <c:v>3356.55833312535</c:v>
                </c:pt>
                <c:pt idx="12" c:formatCode="#,##0.00">
                  <c:v>3350.51205907172</c:v>
                </c:pt>
                <c:pt idx="13" c:formatCode="#,##0.00">
                  <c:v>3348.61786091657</c:v>
                </c:pt>
                <c:pt idx="14" c:formatCode="#,##0.00">
                  <c:v>3354.42191744402</c:v>
                </c:pt>
                <c:pt idx="15" c:formatCode="#,##0.00">
                  <c:v>3355.99130166181</c:v>
                </c:pt>
                <c:pt idx="16" c:formatCode="#,##0.00">
                  <c:v>3354.77407426836</c:v>
                </c:pt>
                <c:pt idx="17" c:formatCode="#,##0.00">
                  <c:v>3352.34330291798</c:v>
                </c:pt>
                <c:pt idx="18" c:formatCode="#,##0.00">
                  <c:v>3353.08397555497</c:v>
                </c:pt>
                <c:pt idx="19" c:formatCode="#,##0.00">
                  <c:v>3358.285994396</c:v>
                </c:pt>
                <c:pt idx="20" c:formatCode="#,##0.00">
                  <c:v>3356.5200453141</c:v>
                </c:pt>
                <c:pt idx="21" c:formatCode="#,##0.00">
                  <c:v>3353.9314780344</c:v>
                </c:pt>
                <c:pt idx="22" c:formatCode="#,##0.00">
                  <c:v>3353.29968615144</c:v>
                </c:pt>
                <c:pt idx="23" c:formatCode="#,##0.00">
                  <c:v>3356.63334323736</c:v>
                </c:pt>
                <c:pt idx="24" c:formatCode="#,##0.00">
                  <c:v>3356.03210093442</c:v>
                </c:pt>
                <c:pt idx="25" c:formatCode="#,##0.00">
                  <c:v>3349.93296162572</c:v>
                </c:pt>
                <c:pt idx="26" c:formatCode="#,##0.00">
                  <c:v>3351.80861660544</c:v>
                </c:pt>
              </c:numCache>
            </c:numRef>
          </c:val>
          <c:smooth val="1"/>
        </c:ser>
        <c:dLbls>
          <c:showLegendKey val="0"/>
          <c:showVal val="0"/>
          <c:showCatName val="0"/>
          <c:showSerName val="0"/>
          <c:showPercent val="0"/>
          <c:showBubbleSize val="0"/>
        </c:dLbls>
        <c:marker val="0"/>
        <c:smooth val="1"/>
        <c:axId val="1264709584"/>
        <c:axId val="1264710304"/>
      </c:lineChart>
      <c:dateAx>
        <c:axId val="1264709584"/>
        <c:scaling>
          <c:orientation val="minMax"/>
        </c:scaling>
        <c:delete val="0"/>
        <c:axPos val="b"/>
        <c:numFmt formatCode="yyyy\-mm\-dd"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Garamond" panose="02020404030301010803" pitchFamily="18" charset="0"/>
                <a:ea typeface="+mn-ea"/>
                <a:cs typeface="+mn-cs"/>
              </a:defRPr>
            </a:pPr>
          </a:p>
        </c:txPr>
        <c:crossAx val="1264710304"/>
        <c:crosses val="autoZero"/>
        <c:auto val="1"/>
        <c:lblOffset val="100"/>
        <c:baseTimeUnit val="days"/>
      </c:dateAx>
      <c:valAx>
        <c:axId val="1264710304"/>
        <c:scaling>
          <c:orientation val="minMax"/>
          <c:min val="3050"/>
        </c:scaling>
        <c:delete val="0"/>
        <c:axPos val="l"/>
        <c:numFmt formatCode="0_ " sourceLinked="0"/>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Garamond" panose="02020404030301010803" pitchFamily="18" charset="0"/>
                <a:ea typeface="+mn-ea"/>
                <a:cs typeface="+mn-cs"/>
              </a:defRPr>
            </a:pPr>
          </a:p>
        </c:txPr>
        <c:crossAx val="126470958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Garamond" panose="02020404030301010803" pitchFamily="18" charset="0"/>
              <a:ea typeface="+mn-ea"/>
              <a:cs typeface="+mn-cs"/>
            </a:defRPr>
          </a:pPr>
        </a:p>
      </c:txPr>
    </c:legend>
    <c:plotVisOnly val="1"/>
    <c:dispBlanksAs val="gap"/>
    <c:showDLblsOverMax val="0"/>
    <c:extLst>
      <c:ext uri="{0b15fc19-7d7d-44ad-8c2d-2c3a37ce22c3}">
        <chartProps xmlns="https://web.wps.cn/et/2018/main" chartId="{8a13c200-04d9-464b-8026-bfdcfb85dcc0}"/>
      </c:ext>
    </c:extLst>
  </c:chart>
  <c:spPr>
    <a:solidFill>
      <a:schemeClr val="bg1"/>
    </a:solidFill>
    <a:ln w="9525" cap="flat" cmpd="sng" algn="ctr">
      <a:noFill/>
      <a:round/>
    </a:ln>
    <a:effectLst/>
  </c:spPr>
  <c:txPr>
    <a:bodyPr/>
    <a:lstStyle/>
    <a:p>
      <a:pPr>
        <a:defRPr lang="zh-CN">
          <a:latin typeface="Garamond" panose="02020404030301010803" pitchFamily="18" charset="0"/>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DFE78F-58BC-423A-A341-D0065C58010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B1CD8-9F96-4F1D-A5B8-2D9E0ECCEB3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7.jpeg"/><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07761" y="5815086"/>
            <a:ext cx="2458720" cy="650876"/>
          </a:xfrm>
          <a:prstGeom prst="rect">
            <a:avLst/>
          </a:prstGeom>
        </p:spPr>
      </p:pic>
      <p:sp>
        <p:nvSpPr>
          <p:cNvPr id="2" name="标题 1"/>
          <p:cNvSpPr>
            <a:spLocks noGrp="1"/>
          </p:cNvSpPr>
          <p:nvPr>
            <p:ph type="title"/>
          </p:nvPr>
        </p:nvSpPr>
        <p:spPr>
          <a:xfrm>
            <a:off x="628650" y="4070056"/>
            <a:ext cx="78867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dirty="0" smtClean="0"/>
              <a:t>单击此处编辑母版标题样式</a:t>
            </a:r>
            <a:endParaRPr lang="zh-CN" altLang="en-US" dirty="0"/>
          </a:p>
        </p:txBody>
      </p:sp>
      <p:sp>
        <p:nvSpPr>
          <p:cNvPr id="6" name="副标题 2"/>
          <p:cNvSpPr>
            <a:spLocks noGrp="1"/>
          </p:cNvSpPr>
          <p:nvPr>
            <p:ph type="subTitle" idx="1" hasCustomPrompt="1"/>
          </p:nvPr>
        </p:nvSpPr>
        <p:spPr>
          <a:xfrm>
            <a:off x="628650" y="5034521"/>
            <a:ext cx="7886700" cy="604299"/>
          </a:xfrm>
        </p:spPr>
        <p:txBody>
          <a:bodyPr anchor="ctr">
            <a:noAutofit/>
          </a:bodyPr>
          <a:lstStyle>
            <a:lvl1pPr algn="ctr">
              <a:defRPr lang="zh-CN" altLang="en-US" sz="2800" b="0">
                <a:solidFill>
                  <a:schemeClr val="bg1"/>
                </a:solidFill>
                <a:latin typeface="+mn-ea"/>
                <a:cs typeface="+mj-cs"/>
              </a:defRPr>
            </a:lvl1pPr>
          </a:lstStyle>
          <a:p>
            <a:pPr lvl="0" algn="ctr">
              <a:lnSpc>
                <a:spcPct val="90000"/>
              </a:lnSpc>
              <a:spcBef>
                <a:spcPct val="0"/>
              </a:spcBef>
              <a:buNone/>
            </a:pPr>
            <a:r>
              <a:rPr lang="zh-CN" altLang="en-US" smtClean="0"/>
              <a:t>单击以编辑母版副标题样式</a:t>
            </a:r>
            <a:endParaRPr lang="zh-CN" altLang="en-US"/>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8132"/>
            <a:ext cx="9144000" cy="3931920"/>
          </a:xfrm>
          <a:prstGeom prst="rect">
            <a:avLst/>
          </a:prstGeom>
        </p:spPr>
      </p:pic>
      <p:cxnSp>
        <p:nvCxnSpPr>
          <p:cNvPr id="9" name="直接连接符 8"/>
          <p:cNvCxnSpPr/>
          <p:nvPr/>
        </p:nvCxnSpPr>
        <p:spPr>
          <a:xfrm>
            <a:off x="0" y="3893788"/>
            <a:ext cx="9144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p:cSld name="内页">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223520"/>
            <a:ext cx="9144000" cy="336803"/>
          </a:xfrm>
          <a:prstGeom prst="rect">
            <a:avLst/>
          </a:prstGeom>
        </p:spPr>
      </p:pic>
      <p:sp>
        <p:nvSpPr>
          <p:cNvPr id="3" name="内容占位符 2"/>
          <p:cNvSpPr>
            <a:spLocks noGrp="1"/>
          </p:cNvSpPr>
          <p:nvPr>
            <p:ph sz="quarter" idx="10" hasCustomPrompt="1"/>
          </p:nvPr>
        </p:nvSpPr>
        <p:spPr>
          <a:xfrm>
            <a:off x="494026" y="1685678"/>
            <a:ext cx="8372163" cy="492149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标题 4"/>
          <p:cNvSpPr>
            <a:spLocks noGrp="1"/>
          </p:cNvSpPr>
          <p:nvPr>
            <p:ph type="title"/>
          </p:nvPr>
        </p:nvSpPr>
        <p:spPr>
          <a:xfrm>
            <a:off x="494024" y="974279"/>
            <a:ext cx="8372163" cy="574183"/>
          </a:xfrm>
          <a:prstGeom prst="rect">
            <a:avLst/>
          </a:prstGeom>
        </p:spPr>
        <p:txBody>
          <a:bodyPr/>
          <a:lstStyle>
            <a:lvl1pPr>
              <a:defRPr sz="3200" b="1">
                <a:solidFill>
                  <a:schemeClr val="accent1"/>
                </a:solidFill>
              </a:defRPr>
            </a:lvl1pPr>
          </a:lstStyle>
          <a:p>
            <a:r>
              <a:rPr lang="zh-CN" altLang="en-US" smtClean="0"/>
              <a:t>单击此处编辑母版标题样式</a:t>
            </a:r>
            <a:endParaRPr lang="zh-CN" altLang="en-US" dirty="0"/>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65863"/>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5" y="175414"/>
            <a:ext cx="1517655" cy="401413"/>
          </a:xfrm>
          <a:prstGeom prst="rect">
            <a:avLst/>
          </a:prstGeom>
        </p:spPr>
      </p:pic>
      <p:sp>
        <p:nvSpPr>
          <p:cNvPr id="11" name="矩形 10"/>
          <p:cNvSpPr/>
          <p:nvPr userDrawn="1"/>
        </p:nvSpPr>
        <p:spPr>
          <a:xfrm>
            <a:off x="0" y="6766560"/>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223518"/>
            <a:ext cx="9144000" cy="336803"/>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223520"/>
            <a:ext cx="9144000" cy="336803"/>
          </a:xfrm>
          <a:prstGeom prst="rect">
            <a:avLst/>
          </a:prstGeom>
        </p:spPr>
      </p:pic>
      <p:sp>
        <p:nvSpPr>
          <p:cNvPr id="3" name="内容占位符 2"/>
          <p:cNvSpPr>
            <a:spLocks noGrp="1"/>
          </p:cNvSpPr>
          <p:nvPr>
            <p:ph sz="quarter" idx="10" hasCustomPrompt="1"/>
          </p:nvPr>
        </p:nvSpPr>
        <p:spPr>
          <a:xfrm>
            <a:off x="494026" y="1685678"/>
            <a:ext cx="8372163" cy="492149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标题 4"/>
          <p:cNvSpPr>
            <a:spLocks noGrp="1"/>
          </p:cNvSpPr>
          <p:nvPr>
            <p:ph type="title"/>
          </p:nvPr>
        </p:nvSpPr>
        <p:spPr>
          <a:xfrm>
            <a:off x="494026" y="975602"/>
            <a:ext cx="8372163" cy="574183"/>
          </a:xfrm>
          <a:prstGeom prst="rect">
            <a:avLst/>
          </a:prstGeom>
        </p:spPr>
        <p:txBody>
          <a:bodyPr/>
          <a:lstStyle>
            <a:lvl1pPr>
              <a:defRPr sz="3200" b="1">
                <a:solidFill>
                  <a:schemeClr val="accent1"/>
                </a:solidFill>
              </a:defRPr>
            </a:lvl1pPr>
          </a:lstStyle>
          <a:p>
            <a:r>
              <a:rPr lang="zh-CN" altLang="en-US" smtClean="0"/>
              <a:t>单击此处编辑母版标题样式</a:t>
            </a:r>
            <a:endParaRPr lang="zh-CN" altLang="en-US"/>
          </a:p>
        </p:txBody>
      </p:sp>
      <p:sp>
        <p:nvSpPr>
          <p:cNvPr id="9" name="文本框 8"/>
          <p:cNvSpPr txBox="1"/>
          <p:nvPr/>
        </p:nvSpPr>
        <p:spPr>
          <a:xfrm>
            <a:off x="8250027" y="311755"/>
            <a:ext cx="578813" cy="276999"/>
          </a:xfrm>
          <a:prstGeom prst="rect">
            <a:avLst/>
          </a:prstGeom>
          <a:noFill/>
        </p:spPr>
        <p:txBody>
          <a:bodyPr wrap="none" rtlCol="0">
            <a:spAutoFit/>
          </a:bodyPr>
          <a:lstStyle/>
          <a:p>
            <a:r>
              <a:rPr lang="en-US" altLang="zh-CN" sz="1200" spc="-60" baseline="0" dirty="0" smtClean="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10" name="灯片编号占位符 5"/>
          <p:cNvSpPr txBox="1"/>
          <p:nvPr/>
        </p:nvSpPr>
        <p:spPr>
          <a:xfrm>
            <a:off x="86976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fld>
            <a:endParaRPr lang="zh-CN" altLang="en-US" sz="1200" dirty="0"/>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65863"/>
          </a:xfrm>
          <a:prstGeom prst="rect">
            <a:avLst/>
          </a:prstGeom>
        </p:spPr>
      </p:pic>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5" y="175414"/>
            <a:ext cx="1517655" cy="401413"/>
          </a:xfrm>
          <a:prstGeom prst="rect">
            <a:avLst/>
          </a:prstGeom>
        </p:spPr>
      </p:pic>
      <p:sp>
        <p:nvSpPr>
          <p:cNvPr id="13" name="矩形 12"/>
          <p:cNvSpPr/>
          <p:nvPr userDrawn="1"/>
        </p:nvSpPr>
        <p:spPr>
          <a:xfrm>
            <a:off x="0" y="6766560"/>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223518"/>
            <a:ext cx="9144000" cy="336803"/>
          </a:xfrm>
          <a:prstGeom prst="rect">
            <a:avLst/>
          </a:prstGeom>
        </p:spPr>
      </p:pic>
      <p:sp>
        <p:nvSpPr>
          <p:cNvPr id="16" name="文本框 15"/>
          <p:cNvSpPr txBox="1"/>
          <p:nvPr userDrawn="1"/>
        </p:nvSpPr>
        <p:spPr>
          <a:xfrm>
            <a:off x="8250026" y="311755"/>
            <a:ext cx="578813" cy="276999"/>
          </a:xfrm>
          <a:prstGeom prst="rect">
            <a:avLst/>
          </a:prstGeom>
          <a:noFill/>
        </p:spPr>
        <p:txBody>
          <a:bodyPr wrap="none" rtlCol="0">
            <a:spAutoFit/>
          </a:bodyPr>
          <a:lstStyle/>
          <a:p>
            <a:r>
              <a:rPr lang="en-US" altLang="zh-CN" sz="1200" spc="-60" baseline="0" dirty="0" smtClean="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17" name="灯片编号占位符 5"/>
          <p:cNvSpPr txBox="1"/>
          <p:nvPr userDrawn="1"/>
        </p:nvSpPr>
        <p:spPr>
          <a:xfrm>
            <a:off x="8697600"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mtClean="0"/>
            </a:fld>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sp>
        <p:nvSpPr>
          <p:cNvPr id="7" name="矩形 6"/>
          <p:cNvSpPr/>
          <p:nvPr/>
        </p:nvSpPr>
        <p:spPr>
          <a:xfrm>
            <a:off x="0" y="5821680"/>
            <a:ext cx="9144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7294" y="6100773"/>
            <a:ext cx="1958547" cy="518469"/>
          </a:xfrm>
          <a:prstGeom prst="rect">
            <a:avLst/>
          </a:prstGeom>
        </p:spPr>
      </p:pic>
      <p:sp>
        <p:nvSpPr>
          <p:cNvPr id="2" name="标题 1"/>
          <p:cNvSpPr>
            <a:spLocks noGrp="1"/>
          </p:cNvSpPr>
          <p:nvPr>
            <p:ph type="title"/>
          </p:nvPr>
        </p:nvSpPr>
        <p:spPr>
          <a:xfrm>
            <a:off x="323851" y="235137"/>
            <a:ext cx="6474515"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smtClean="0"/>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9144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65863"/>
          </a:xfrm>
          <a:prstGeom prst="rect">
            <a:avLst/>
          </a:prstGeom>
        </p:spPr>
      </p:pic>
      <p:sp>
        <p:nvSpPr>
          <p:cNvPr id="10" name="矩形 9"/>
          <p:cNvSpPr/>
          <p:nvPr userDrawn="1"/>
        </p:nvSpPr>
        <p:spPr>
          <a:xfrm>
            <a:off x="0" y="5821680"/>
            <a:ext cx="9144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67293" y="6100771"/>
            <a:ext cx="1958547"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9144000" cy="5181600"/>
          </a:xfrm>
          <a:prstGeom prst="rect">
            <a:avLst/>
          </a:prstGeom>
        </p:spPr>
      </p:pic>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p:cSld name="纯标题">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标题 4"/>
          <p:cNvSpPr>
            <a:spLocks noGrp="1"/>
          </p:cNvSpPr>
          <p:nvPr>
            <p:ph type="title"/>
          </p:nvPr>
        </p:nvSpPr>
        <p:spPr>
          <a:xfrm>
            <a:off x="494026" y="975602"/>
            <a:ext cx="8372163" cy="574183"/>
          </a:xfrm>
          <a:prstGeom prst="rect">
            <a:avLst/>
          </a:prstGeom>
        </p:spPr>
        <p:txBody>
          <a:bodyPr/>
          <a:lstStyle>
            <a:lvl1pPr>
              <a:defRPr sz="3200" b="1">
                <a:solidFill>
                  <a:schemeClr val="accent1"/>
                </a:solidFill>
              </a:defRPr>
            </a:lvl1pPr>
          </a:lstStyle>
          <a:p>
            <a:r>
              <a:rPr lang="zh-CN" altLang="en-US" smtClean="0"/>
              <a:t>单击此处编辑母版标题样式</a:t>
            </a:r>
            <a:endParaRPr lang="zh-CN" altLang="en-US"/>
          </a:p>
        </p:txBody>
      </p: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223520"/>
            <a:ext cx="9144000" cy="336803"/>
          </a:xfrm>
          <a:prstGeom prst="rect">
            <a:avLst/>
          </a:prstGeom>
        </p:spPr>
      </p:pic>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65863"/>
          </a:xfrm>
          <a:prstGeom prst="rect">
            <a:avLst/>
          </a:prstGeom>
        </p:spPr>
      </p:pic>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5" y="175414"/>
            <a:ext cx="1517655" cy="401413"/>
          </a:xfrm>
          <a:prstGeom prst="rect">
            <a:avLst/>
          </a:prstGeom>
        </p:spPr>
      </p:pic>
      <p:sp>
        <p:nvSpPr>
          <p:cNvPr id="10" name="矩形 9"/>
          <p:cNvSpPr/>
          <p:nvPr userDrawn="1"/>
        </p:nvSpPr>
        <p:spPr>
          <a:xfrm>
            <a:off x="0" y="6766560"/>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223518"/>
            <a:ext cx="9144000" cy="336803"/>
          </a:xfrm>
          <a:prstGeom prst="rect">
            <a:avLst/>
          </a:prstGeom>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p:cSld name="纯标题-有页码">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标题 4"/>
          <p:cNvSpPr>
            <a:spLocks noGrp="1"/>
          </p:cNvSpPr>
          <p:nvPr>
            <p:ph type="title"/>
          </p:nvPr>
        </p:nvSpPr>
        <p:spPr>
          <a:xfrm>
            <a:off x="494026" y="975602"/>
            <a:ext cx="8372163" cy="574183"/>
          </a:xfrm>
          <a:prstGeom prst="rect">
            <a:avLst/>
          </a:prstGeom>
        </p:spPr>
        <p:txBody>
          <a:bodyPr/>
          <a:lstStyle>
            <a:lvl1pPr>
              <a:defRPr sz="3200" b="1">
                <a:solidFill>
                  <a:schemeClr val="accent1"/>
                </a:solidFill>
              </a:defRPr>
            </a:lvl1pPr>
          </a:lstStyle>
          <a:p>
            <a:r>
              <a:rPr lang="zh-CN" altLang="en-US" smtClean="0"/>
              <a:t>单击此处编辑母版标题样式</a:t>
            </a:r>
            <a:endParaRPr lang="zh-CN" altLang="en-US" dirty="0"/>
          </a:p>
        </p:txBody>
      </p:sp>
      <p:sp>
        <p:nvSpPr>
          <p:cNvPr id="10" name="文本框 9"/>
          <p:cNvSpPr txBox="1"/>
          <p:nvPr/>
        </p:nvSpPr>
        <p:spPr>
          <a:xfrm>
            <a:off x="8250027" y="311755"/>
            <a:ext cx="578813" cy="276999"/>
          </a:xfrm>
          <a:prstGeom prst="rect">
            <a:avLst/>
          </a:prstGeom>
          <a:noFill/>
        </p:spPr>
        <p:txBody>
          <a:bodyPr wrap="none" rtlCol="0">
            <a:spAutoFit/>
          </a:bodyPr>
          <a:lstStyle/>
          <a:p>
            <a:r>
              <a:rPr lang="en-US" altLang="zh-CN" sz="1200" spc="-60" baseline="0" dirty="0" smtClean="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12" name="灯片编号占位符 5"/>
          <p:cNvSpPr txBox="1"/>
          <p:nvPr/>
        </p:nvSpPr>
        <p:spPr>
          <a:xfrm>
            <a:off x="8696566" y="311755"/>
            <a:ext cx="447435" cy="276999"/>
          </a:xfrm>
          <a:prstGeom prst="rect">
            <a:avLst/>
          </a:prstGeom>
          <a:noFill/>
        </p:spPr>
        <p:txBody>
          <a:bodyPr wrap="squar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7E0B4DC1-AB35-4259-8072-EA8F5B8A0BBF}" type="slidenum">
              <a:rPr lang="zh-CN" altLang="en-US" sz="1200" smtClean="0"/>
            </a:fld>
            <a:endParaRPr lang="zh-CN" altLang="en-US" sz="1200" dirty="0"/>
          </a:p>
        </p:txBody>
      </p:sp>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223520"/>
            <a:ext cx="9144000" cy="336803"/>
          </a:xfrm>
          <a:prstGeom prst="rect">
            <a:avLst/>
          </a:prstGeom>
        </p:spPr>
      </p:pic>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65863"/>
          </a:xfrm>
          <a:prstGeom prst="rect">
            <a:avLst/>
          </a:prstGeom>
        </p:spPr>
      </p:pic>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5" y="175414"/>
            <a:ext cx="1517655" cy="401413"/>
          </a:xfrm>
          <a:prstGeom prst="rect">
            <a:avLst/>
          </a:prstGeom>
        </p:spPr>
      </p:pic>
      <p:sp>
        <p:nvSpPr>
          <p:cNvPr id="14" name="矩形 13"/>
          <p:cNvSpPr/>
          <p:nvPr userDrawn="1"/>
        </p:nvSpPr>
        <p:spPr>
          <a:xfrm>
            <a:off x="0" y="6766560"/>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userDrawn="1"/>
        </p:nvSpPr>
        <p:spPr>
          <a:xfrm>
            <a:off x="8250026" y="311755"/>
            <a:ext cx="578813" cy="276999"/>
          </a:xfrm>
          <a:prstGeom prst="rect">
            <a:avLst/>
          </a:prstGeom>
          <a:noFill/>
        </p:spPr>
        <p:txBody>
          <a:bodyPr wrap="none" rtlCol="0">
            <a:spAutoFit/>
          </a:bodyPr>
          <a:lstStyle/>
          <a:p>
            <a:r>
              <a:rPr lang="en-US" altLang="zh-CN" sz="1200" spc="-60" baseline="0" dirty="0" smtClean="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17" name="灯片编号占位符 5"/>
          <p:cNvSpPr txBox="1"/>
          <p:nvPr userDrawn="1"/>
        </p:nvSpPr>
        <p:spPr>
          <a:xfrm>
            <a:off x="8696565" y="311755"/>
            <a:ext cx="447435" cy="276999"/>
          </a:xfrm>
          <a:prstGeom prst="rect">
            <a:avLst/>
          </a:prstGeom>
          <a:noFill/>
        </p:spPr>
        <p:txBody>
          <a:bodyPr wrap="squar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7E0B4DC1-AB35-4259-8072-EA8F5B8A0BBF}" type="slidenum">
              <a:rPr lang="zh-CN" altLang="en-US" smtClean="0"/>
            </a:fld>
            <a:endParaRPr lang="zh-CN" altLang="en-US" dirty="0"/>
          </a:p>
        </p:txBody>
      </p:sp>
      <p:pic>
        <p:nvPicPr>
          <p:cNvPr id="18" name="图片 1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223518"/>
            <a:ext cx="9144000" cy="336803"/>
          </a:xfrm>
          <a:prstGeom prst="rect">
            <a:avLst/>
          </a:prstGeom>
        </p:spPr>
      </p:pic>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空白">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65863"/>
          </a:xfrm>
          <a:prstGeom prst="rect">
            <a:avLst/>
          </a:prstGeom>
        </p:spPr>
      </p:pic>
      <p:pic>
        <p:nvPicPr>
          <p:cNvPr id="6" name="图片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5" y="175414"/>
            <a:ext cx="1517655" cy="401413"/>
          </a:xfrm>
          <a:prstGeom prst="rect">
            <a:avLst/>
          </a:prstGeom>
        </p:spPr>
      </p:pic>
      <p:sp>
        <p:nvSpPr>
          <p:cNvPr id="7" name="矩形 6"/>
          <p:cNvSpPr/>
          <p:nvPr userDrawn="1"/>
        </p:nvSpPr>
        <p:spPr>
          <a:xfrm>
            <a:off x="0" y="6766560"/>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p:cSld name="空白-有页码">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8250027" y="311755"/>
            <a:ext cx="578813" cy="276999"/>
          </a:xfrm>
          <a:prstGeom prst="rect">
            <a:avLst/>
          </a:prstGeom>
          <a:noFill/>
        </p:spPr>
        <p:txBody>
          <a:bodyPr wrap="none" rtlCol="0">
            <a:spAutoFit/>
          </a:bodyPr>
          <a:lstStyle/>
          <a:p>
            <a:r>
              <a:rPr lang="en-US" altLang="zh-CN" sz="1200" spc="-60" baseline="0" dirty="0" smtClean="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8697601" y="313202"/>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fld>
            <a:endParaRPr lang="en-US" altLang="zh-CN"/>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65863"/>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5" y="175414"/>
            <a:ext cx="1517655" cy="401413"/>
          </a:xfrm>
          <a:prstGeom prst="rect">
            <a:avLst/>
          </a:prstGeom>
        </p:spPr>
      </p:pic>
      <p:sp>
        <p:nvSpPr>
          <p:cNvPr id="11" name="矩形 10"/>
          <p:cNvSpPr/>
          <p:nvPr userDrawn="1"/>
        </p:nvSpPr>
        <p:spPr>
          <a:xfrm>
            <a:off x="0" y="6766560"/>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8250026" y="311755"/>
            <a:ext cx="578813" cy="276999"/>
          </a:xfrm>
          <a:prstGeom prst="rect">
            <a:avLst/>
          </a:prstGeom>
          <a:noFill/>
        </p:spPr>
        <p:txBody>
          <a:bodyPr wrap="none" rtlCol="0">
            <a:spAutoFit/>
          </a:bodyPr>
          <a:lstStyle/>
          <a:p>
            <a:r>
              <a:rPr lang="en-US" altLang="zh-CN" sz="1200" spc="-60" baseline="0" dirty="0" smtClean="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p:cSld name="两栏">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内容占位符 11"/>
          <p:cNvSpPr>
            <a:spLocks noGrp="1"/>
          </p:cNvSpPr>
          <p:nvPr>
            <p:ph sz="quarter" idx="10" hasCustomPrompt="1"/>
          </p:nvPr>
        </p:nvSpPr>
        <p:spPr>
          <a:xfrm>
            <a:off x="262394" y="1717675"/>
            <a:ext cx="4032000"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16" name="内容占位符 15"/>
          <p:cNvSpPr>
            <a:spLocks noGrp="1"/>
          </p:cNvSpPr>
          <p:nvPr>
            <p:ph sz="quarter" idx="11" hasCustomPrompt="1"/>
          </p:nvPr>
        </p:nvSpPr>
        <p:spPr>
          <a:xfrm>
            <a:off x="4786314" y="1717675"/>
            <a:ext cx="4032250"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2" name="标题 1"/>
          <p:cNvSpPr>
            <a:spLocks noGrp="1"/>
          </p:cNvSpPr>
          <p:nvPr>
            <p:ph type="title"/>
          </p:nvPr>
        </p:nvSpPr>
        <p:spPr>
          <a:xfrm>
            <a:off x="262394" y="975600"/>
            <a:ext cx="8556169" cy="576000"/>
          </a:xfrm>
          <a:prstGeom prst="rect">
            <a:avLst/>
          </a:prstGeom>
        </p:spPr>
        <p:txBody>
          <a:bodyPr/>
          <a:lstStyle>
            <a:lvl1pPr>
              <a:defRPr lang="zh-CN" altLang="en-US" sz="3200" b="1">
                <a:solidFill>
                  <a:schemeClr val="accent1"/>
                </a:solidFill>
              </a:defRPr>
            </a:lvl1pPr>
          </a:lstStyle>
          <a:p>
            <a:pPr lvl="0"/>
            <a:r>
              <a:rPr lang="zh-CN" altLang="en-US" smtClean="0"/>
              <a:t>单击此处编辑母版标题样式</a:t>
            </a:r>
            <a:endParaRPr lang="zh-CN" altLang="en-US"/>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223520"/>
            <a:ext cx="9144000" cy="336803"/>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65863"/>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5" y="175414"/>
            <a:ext cx="1517655" cy="401413"/>
          </a:xfrm>
          <a:prstGeom prst="rect">
            <a:avLst/>
          </a:prstGeom>
        </p:spPr>
      </p:pic>
      <p:sp>
        <p:nvSpPr>
          <p:cNvPr id="11" name="矩形 10"/>
          <p:cNvSpPr/>
          <p:nvPr userDrawn="1"/>
        </p:nvSpPr>
        <p:spPr>
          <a:xfrm>
            <a:off x="0" y="6766560"/>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223518"/>
            <a:ext cx="9144000" cy="336803"/>
          </a:xfrm>
          <a:prstGeom prst="rect">
            <a:avLst/>
          </a:prstGeom>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p:cSld name="两栏-有页码">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 name="文本框 5"/>
          <p:cNvSpPr txBox="1"/>
          <p:nvPr/>
        </p:nvSpPr>
        <p:spPr>
          <a:xfrm>
            <a:off x="8250027" y="313202"/>
            <a:ext cx="578813" cy="276999"/>
          </a:xfrm>
          <a:prstGeom prst="rect">
            <a:avLst/>
          </a:prstGeom>
          <a:noFill/>
        </p:spPr>
        <p:txBody>
          <a:bodyPr wrap="none" rtlCol="0">
            <a:spAutoFit/>
          </a:bodyPr>
          <a:lstStyle/>
          <a:p>
            <a:r>
              <a:rPr lang="en-US" altLang="zh-CN" sz="1200" spc="-60" baseline="0" dirty="0" smtClean="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12" name="内容占位符 11"/>
          <p:cNvSpPr>
            <a:spLocks noGrp="1"/>
          </p:cNvSpPr>
          <p:nvPr>
            <p:ph sz="quarter" idx="10" hasCustomPrompt="1"/>
          </p:nvPr>
        </p:nvSpPr>
        <p:spPr>
          <a:xfrm>
            <a:off x="262394" y="1717675"/>
            <a:ext cx="4032000"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16" name="内容占位符 15"/>
          <p:cNvSpPr>
            <a:spLocks noGrp="1"/>
          </p:cNvSpPr>
          <p:nvPr>
            <p:ph sz="quarter" idx="11" hasCustomPrompt="1"/>
          </p:nvPr>
        </p:nvSpPr>
        <p:spPr>
          <a:xfrm>
            <a:off x="4786314" y="1717675"/>
            <a:ext cx="4032250"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21" name="灯片编号占位符 8"/>
          <p:cNvSpPr>
            <a:spLocks noGrp="1"/>
          </p:cNvSpPr>
          <p:nvPr>
            <p:ph type="sldNum" sz="quarter" idx="12"/>
          </p:nvPr>
        </p:nvSpPr>
        <p:spPr>
          <a:xfrm>
            <a:off x="8696566" y="313202"/>
            <a:ext cx="487190" cy="276999"/>
          </a:xfrm>
          <a:prstGeom prst="rect">
            <a:avLst/>
          </a:prstGeom>
          <a:noFill/>
        </p:spPr>
        <p:txBody>
          <a:bodyPr wrap="squar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54BD5A17-3153-4A95-988E-B577C14000F1}" type="slidenum">
              <a:rPr lang="en-US" altLang="zh-CN" smtClean="0"/>
            </a:fld>
            <a:endParaRPr lang="en-US" altLang="zh-CN" dirty="0"/>
          </a:p>
        </p:txBody>
      </p:sp>
      <p:sp>
        <p:nvSpPr>
          <p:cNvPr id="2" name="标题 1"/>
          <p:cNvSpPr>
            <a:spLocks noGrp="1"/>
          </p:cNvSpPr>
          <p:nvPr>
            <p:ph type="title"/>
          </p:nvPr>
        </p:nvSpPr>
        <p:spPr>
          <a:xfrm>
            <a:off x="262394" y="975600"/>
            <a:ext cx="8566445" cy="576000"/>
          </a:xfrm>
          <a:prstGeom prst="rect">
            <a:avLst/>
          </a:prstGeom>
        </p:spPr>
        <p:txBody>
          <a:bodyPr/>
          <a:lstStyle>
            <a:lvl1pPr>
              <a:defRPr lang="zh-CN" altLang="en-US" sz="3200" b="1">
                <a:solidFill>
                  <a:schemeClr val="accent1"/>
                </a:solidFill>
              </a:defRPr>
            </a:lvl1pPr>
          </a:lstStyle>
          <a:p>
            <a:pPr lvl="0"/>
            <a:r>
              <a:rPr lang="zh-CN" altLang="en-US" smtClean="0"/>
              <a:t>单击此处编辑母版标题样式</a:t>
            </a:r>
            <a:endParaRPr lang="zh-CN" altLang="en-US" dirty="0"/>
          </a:p>
        </p:txBody>
      </p:sp>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223520"/>
            <a:ext cx="9144000" cy="336803"/>
          </a:xfrm>
          <a:prstGeom prst="rect">
            <a:avLst/>
          </a:prstGeom>
        </p:spPr>
      </p:pic>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65863"/>
          </a:xfrm>
          <a:prstGeom prst="rect">
            <a:avLst/>
          </a:prstGeom>
        </p:spPr>
      </p:pic>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5" y="175414"/>
            <a:ext cx="1517655" cy="401413"/>
          </a:xfrm>
          <a:prstGeom prst="rect">
            <a:avLst/>
          </a:prstGeom>
        </p:spPr>
      </p:pic>
      <p:sp>
        <p:nvSpPr>
          <p:cNvPr id="17" name="矩形 16"/>
          <p:cNvSpPr/>
          <p:nvPr userDrawn="1"/>
        </p:nvSpPr>
        <p:spPr>
          <a:xfrm>
            <a:off x="0" y="6766560"/>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userDrawn="1"/>
        </p:nvSpPr>
        <p:spPr>
          <a:xfrm>
            <a:off x="8250026" y="313200"/>
            <a:ext cx="578813" cy="276999"/>
          </a:xfrm>
          <a:prstGeom prst="rect">
            <a:avLst/>
          </a:prstGeom>
          <a:noFill/>
        </p:spPr>
        <p:txBody>
          <a:bodyPr wrap="none" rtlCol="0">
            <a:spAutoFit/>
          </a:bodyPr>
          <a:lstStyle/>
          <a:p>
            <a:r>
              <a:rPr lang="en-US" altLang="zh-CN" sz="1200" spc="-60" baseline="0" dirty="0" smtClean="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223518"/>
            <a:ext cx="9144000" cy="336803"/>
          </a:xfrm>
          <a:prstGeom prst="rect">
            <a:avLst/>
          </a:prstGeom>
        </p:spPr>
      </p:pic>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p:cSld name="对比">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标题 4"/>
          <p:cNvSpPr>
            <a:spLocks noGrp="1"/>
          </p:cNvSpPr>
          <p:nvPr>
            <p:ph type="title" hasCustomPrompt="1"/>
          </p:nvPr>
        </p:nvSpPr>
        <p:spPr>
          <a:xfrm>
            <a:off x="262394" y="960116"/>
            <a:ext cx="4032000" cy="574183"/>
          </a:xfrm>
          <a:prstGeom prst="rect">
            <a:avLst/>
          </a:prstGeom>
        </p:spPr>
        <p:txBody>
          <a:bodyPr anchor="b">
            <a:normAutofit/>
          </a:bodyPr>
          <a:lstStyle>
            <a:lvl1pPr algn="ctr">
              <a:defRPr sz="2800" b="1">
                <a:solidFill>
                  <a:schemeClr val="accent1"/>
                </a:solidFill>
              </a:defRPr>
            </a:lvl1pPr>
          </a:lstStyle>
          <a:p>
            <a:r>
              <a:rPr lang="zh-CN" altLang="en-US" dirty="0" smtClean="0"/>
              <a:t>单击此处编辑标题</a:t>
            </a:r>
            <a:endParaRPr lang="zh-CN" altLang="en-US" dirty="0"/>
          </a:p>
        </p:txBody>
      </p:sp>
      <p:cxnSp>
        <p:nvCxnSpPr>
          <p:cNvPr id="3" name="直接连接符 2"/>
          <p:cNvCxnSpPr/>
          <p:nvPr/>
        </p:nvCxnSpPr>
        <p:spPr>
          <a:xfrm flipV="1">
            <a:off x="0" y="1550505"/>
            <a:ext cx="9144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hasCustomPrompt="1"/>
          </p:nvPr>
        </p:nvSpPr>
        <p:spPr>
          <a:xfrm>
            <a:off x="262394" y="1717675"/>
            <a:ext cx="4032000"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16" name="内容占位符 15"/>
          <p:cNvSpPr>
            <a:spLocks noGrp="1"/>
          </p:cNvSpPr>
          <p:nvPr>
            <p:ph sz="quarter" idx="11" hasCustomPrompt="1"/>
          </p:nvPr>
        </p:nvSpPr>
        <p:spPr>
          <a:xfrm>
            <a:off x="4786314" y="1717675"/>
            <a:ext cx="4032250"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18" name="文本占位符 4"/>
          <p:cNvSpPr>
            <a:spLocks noGrp="1"/>
          </p:cNvSpPr>
          <p:nvPr>
            <p:ph type="body" sz="quarter" idx="3" hasCustomPrompt="1"/>
          </p:nvPr>
        </p:nvSpPr>
        <p:spPr>
          <a:xfrm>
            <a:off x="4786313" y="958297"/>
            <a:ext cx="4032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smtClean="0"/>
              <a:t>单击此处编辑标题</a:t>
            </a:r>
            <a:endParaRPr lang="zh-CN" altLang="en-US" dirty="0" smtClean="0"/>
          </a:p>
        </p:txBody>
      </p:sp>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65863"/>
          </a:xfrm>
          <a:prstGeom prst="rect">
            <a:avLst/>
          </a:prstGeom>
        </p:spPr>
      </p:pic>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5" y="175414"/>
            <a:ext cx="1517655" cy="401413"/>
          </a:xfrm>
          <a:prstGeom prst="rect">
            <a:avLst/>
          </a:prstGeom>
        </p:spPr>
      </p:pic>
      <p:sp>
        <p:nvSpPr>
          <p:cNvPr id="13" name="矩形 12"/>
          <p:cNvSpPr/>
          <p:nvPr userDrawn="1"/>
        </p:nvSpPr>
        <p:spPr>
          <a:xfrm>
            <a:off x="0" y="6766560"/>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userDrawn="1"/>
        </p:nvCxnSpPr>
        <p:spPr>
          <a:xfrm flipV="1">
            <a:off x="0" y="1550505"/>
            <a:ext cx="9144000" cy="795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对比-有页码">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026" y="175416"/>
            <a:ext cx="1517655" cy="401413"/>
          </a:xfrm>
          <a:prstGeom prst="rect">
            <a:avLst/>
          </a:prstGeom>
        </p:spPr>
      </p:pic>
      <p:sp>
        <p:nvSpPr>
          <p:cNvPr id="15" name="矩形 14"/>
          <p:cNvSpPr/>
          <p:nvPr/>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 name="文本框 5"/>
          <p:cNvSpPr txBox="1"/>
          <p:nvPr/>
        </p:nvSpPr>
        <p:spPr>
          <a:xfrm>
            <a:off x="8250027" y="313202"/>
            <a:ext cx="578813" cy="276999"/>
          </a:xfrm>
          <a:prstGeom prst="rect">
            <a:avLst/>
          </a:prstGeom>
          <a:noFill/>
        </p:spPr>
        <p:txBody>
          <a:bodyPr wrap="none" rtlCol="0">
            <a:spAutoFit/>
          </a:bodyPr>
          <a:lstStyle/>
          <a:p>
            <a:r>
              <a:rPr lang="en-US" altLang="zh-CN" sz="1200" spc="-60" baseline="0" dirty="0" smtClean="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5" name="标题 4"/>
          <p:cNvSpPr>
            <a:spLocks noGrp="1"/>
          </p:cNvSpPr>
          <p:nvPr>
            <p:ph type="title" hasCustomPrompt="1"/>
          </p:nvPr>
        </p:nvSpPr>
        <p:spPr>
          <a:xfrm>
            <a:off x="262394" y="960116"/>
            <a:ext cx="4032000" cy="574183"/>
          </a:xfrm>
          <a:prstGeom prst="rect">
            <a:avLst/>
          </a:prstGeom>
        </p:spPr>
        <p:txBody>
          <a:bodyPr anchor="b">
            <a:normAutofit/>
          </a:bodyPr>
          <a:lstStyle>
            <a:lvl1pPr algn="ctr">
              <a:defRPr sz="2800" b="1">
                <a:solidFill>
                  <a:schemeClr val="accent1"/>
                </a:solidFill>
              </a:defRPr>
            </a:lvl1pPr>
          </a:lstStyle>
          <a:p>
            <a:r>
              <a:rPr lang="zh-CN" altLang="en-US" dirty="0" smtClean="0"/>
              <a:t>单击此处编辑标题</a:t>
            </a:r>
            <a:endParaRPr lang="zh-CN" altLang="en-US" dirty="0"/>
          </a:p>
        </p:txBody>
      </p:sp>
      <p:cxnSp>
        <p:nvCxnSpPr>
          <p:cNvPr id="3" name="直接连接符 2"/>
          <p:cNvCxnSpPr/>
          <p:nvPr/>
        </p:nvCxnSpPr>
        <p:spPr>
          <a:xfrm flipV="1">
            <a:off x="0" y="1550505"/>
            <a:ext cx="9144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hasCustomPrompt="1"/>
          </p:nvPr>
        </p:nvSpPr>
        <p:spPr>
          <a:xfrm>
            <a:off x="262394" y="1717675"/>
            <a:ext cx="4032000"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16" name="内容占位符 15"/>
          <p:cNvSpPr>
            <a:spLocks noGrp="1"/>
          </p:cNvSpPr>
          <p:nvPr>
            <p:ph sz="quarter" idx="11" hasCustomPrompt="1"/>
          </p:nvPr>
        </p:nvSpPr>
        <p:spPr>
          <a:xfrm>
            <a:off x="4786314" y="1717675"/>
            <a:ext cx="4032250"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18" name="文本占位符 4"/>
          <p:cNvSpPr>
            <a:spLocks noGrp="1"/>
          </p:cNvSpPr>
          <p:nvPr>
            <p:ph type="body" sz="quarter" idx="3" hasCustomPrompt="1"/>
          </p:nvPr>
        </p:nvSpPr>
        <p:spPr>
          <a:xfrm>
            <a:off x="4786313" y="958297"/>
            <a:ext cx="4032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smtClean="0"/>
              <a:t>单击此处编辑标题</a:t>
            </a:r>
            <a:endParaRPr lang="zh-CN" altLang="en-US" dirty="0" smtClean="0"/>
          </a:p>
        </p:txBody>
      </p:sp>
      <p:sp>
        <p:nvSpPr>
          <p:cNvPr id="21" name="灯片编号占位符 8"/>
          <p:cNvSpPr>
            <a:spLocks noGrp="1"/>
          </p:cNvSpPr>
          <p:nvPr>
            <p:ph type="sldNum" sz="quarter" idx="12"/>
          </p:nvPr>
        </p:nvSpPr>
        <p:spPr>
          <a:xfrm>
            <a:off x="8696566" y="313202"/>
            <a:ext cx="487190" cy="276999"/>
          </a:xfrm>
          <a:prstGeom prst="rect">
            <a:avLst/>
          </a:prstGeom>
          <a:noFill/>
        </p:spPr>
        <p:txBody>
          <a:bodyPr wrap="squar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54BD5A17-3153-4A95-988E-B577C14000F1}" type="slidenum">
              <a:rPr lang="en-US" altLang="zh-CN" smtClean="0"/>
            </a:fld>
            <a:endParaRPr lang="en-US" altLang="zh-CN" dirty="0"/>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65863"/>
          </a:xfrm>
          <a:prstGeom prst="rect">
            <a:avLst/>
          </a:prstGeom>
        </p:spPr>
      </p:pic>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025" y="175414"/>
            <a:ext cx="1517655" cy="401413"/>
          </a:xfrm>
          <a:prstGeom prst="rect">
            <a:avLst/>
          </a:prstGeom>
        </p:spPr>
      </p:pic>
      <p:sp>
        <p:nvSpPr>
          <p:cNvPr id="17" name="矩形 16"/>
          <p:cNvSpPr/>
          <p:nvPr userDrawn="1"/>
        </p:nvSpPr>
        <p:spPr>
          <a:xfrm>
            <a:off x="0" y="6766560"/>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userDrawn="1"/>
        </p:nvSpPr>
        <p:spPr>
          <a:xfrm>
            <a:off x="8250026" y="313200"/>
            <a:ext cx="578813" cy="276999"/>
          </a:xfrm>
          <a:prstGeom prst="rect">
            <a:avLst/>
          </a:prstGeom>
          <a:noFill/>
        </p:spPr>
        <p:txBody>
          <a:bodyPr wrap="none" rtlCol="0">
            <a:spAutoFit/>
          </a:bodyPr>
          <a:lstStyle/>
          <a:p>
            <a:r>
              <a:rPr lang="en-US" altLang="zh-CN" sz="1200" spc="-60" baseline="0" dirty="0" smtClean="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cxnSp>
        <p:nvCxnSpPr>
          <p:cNvPr id="20" name="直接连接符 19"/>
          <p:cNvCxnSpPr/>
          <p:nvPr userDrawn="1"/>
        </p:nvCxnSpPr>
        <p:spPr>
          <a:xfrm flipV="1">
            <a:off x="0" y="1550505"/>
            <a:ext cx="9144000" cy="795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07761" y="5815086"/>
            <a:ext cx="2458720" cy="650876"/>
          </a:xfrm>
          <a:prstGeom prst="rect">
            <a:avLst/>
          </a:prstGeom>
        </p:spPr>
      </p:pic>
      <p:sp>
        <p:nvSpPr>
          <p:cNvPr id="2" name="标题 1"/>
          <p:cNvSpPr>
            <a:spLocks noGrp="1"/>
          </p:cNvSpPr>
          <p:nvPr>
            <p:ph type="title"/>
          </p:nvPr>
        </p:nvSpPr>
        <p:spPr>
          <a:xfrm>
            <a:off x="469124" y="4006448"/>
            <a:ext cx="8325019" cy="1114192"/>
          </a:xfrm>
          <a:prstGeom prst="rect">
            <a:avLst/>
          </a:prstGeom>
        </p:spPr>
        <p:txBody>
          <a:bodyPr anchor="ctr">
            <a:noAutofit/>
          </a:bodyPr>
          <a:lstStyle>
            <a:lvl1pPr algn="l">
              <a:lnSpc>
                <a:spcPct val="100000"/>
              </a:lnSpc>
              <a:defRPr sz="4000" b="1">
                <a:solidFill>
                  <a:schemeClr val="bg1"/>
                </a:solidFill>
                <a:latin typeface="+mn-ea"/>
                <a:ea typeface="+mn-ea"/>
              </a:defRPr>
            </a:lvl1pPr>
          </a:lstStyle>
          <a:p>
            <a:r>
              <a:rPr lang="zh-CN" altLang="en-US" dirty="0" smtClean="0"/>
              <a:t>单击此处编辑母版标题样式</a:t>
            </a:r>
            <a:endParaRPr lang="zh-CN" altLang="en-US" dirty="0"/>
          </a:p>
        </p:txBody>
      </p:sp>
      <p:sp>
        <p:nvSpPr>
          <p:cNvPr id="6" name="副标题 2"/>
          <p:cNvSpPr>
            <a:spLocks noGrp="1"/>
          </p:cNvSpPr>
          <p:nvPr>
            <p:ph type="subTitle" idx="1" hasCustomPrompt="1"/>
          </p:nvPr>
        </p:nvSpPr>
        <p:spPr>
          <a:xfrm>
            <a:off x="469125" y="5245248"/>
            <a:ext cx="5820358"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dirty="0" smtClean="0"/>
              <a:t>单击以编辑母版副标题样式</a:t>
            </a:r>
            <a:endParaRPr lang="zh-CN" altLang="en-US" dirty="0"/>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8132"/>
            <a:ext cx="9144000" cy="3931920"/>
          </a:xfrm>
          <a:prstGeom prst="rect">
            <a:avLst/>
          </a:prstGeom>
        </p:spPr>
      </p:pic>
      <p:cxnSp>
        <p:nvCxnSpPr>
          <p:cNvPr id="9" name="直接连接符 8"/>
          <p:cNvCxnSpPr/>
          <p:nvPr/>
        </p:nvCxnSpPr>
        <p:spPr>
          <a:xfrm>
            <a:off x="0" y="3893788"/>
            <a:ext cx="9144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占位符 6"/>
          <p:cNvSpPr>
            <a:spLocks noGrp="1"/>
          </p:cNvSpPr>
          <p:nvPr>
            <p:ph type="body" sz="quarter" idx="10" hasCustomPrompt="1"/>
          </p:nvPr>
        </p:nvSpPr>
        <p:spPr>
          <a:xfrm>
            <a:off x="469125" y="5815087"/>
            <a:ext cx="4159250" cy="499004"/>
          </a:xfrm>
        </p:spPr>
        <p:txBody>
          <a:bodyPr>
            <a:noAutofit/>
          </a:bodyPr>
          <a:lstStyle>
            <a:lvl1pPr marL="0" indent="0">
              <a:lnSpc>
                <a:spcPct val="100000"/>
              </a:lnSpc>
              <a:buNone/>
              <a:defRPr sz="2400">
                <a:solidFill>
                  <a:schemeClr val="bg1"/>
                </a:solidFill>
              </a:defRPr>
            </a:lvl1pPr>
          </a:lstStyle>
          <a:p>
            <a:pPr lvl="0"/>
            <a:r>
              <a:rPr lang="zh-CN" altLang="en-US" dirty="0" smtClean="0"/>
              <a:t>单击此处添加日期</a:t>
            </a:r>
            <a:endParaRPr lang="zh-CN" altLang="en-US" dirty="0"/>
          </a:p>
        </p:txBody>
      </p:sp>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38132"/>
            <a:ext cx="9144000" cy="3931920"/>
          </a:xfrm>
          <a:prstGeom prst="rect">
            <a:avLst/>
          </a:prstGeom>
        </p:spPr>
      </p:pic>
      <p:cxnSp>
        <p:nvCxnSpPr>
          <p:cNvPr id="11" name="直接连接符 10"/>
          <p:cNvCxnSpPr/>
          <p:nvPr userDrawn="1"/>
        </p:nvCxnSpPr>
        <p:spPr>
          <a:xfrm>
            <a:off x="0" y="3893788"/>
            <a:ext cx="9144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3212546"/>
            <a:ext cx="9144000" cy="2796540"/>
          </a:xfrm>
          <a:prstGeom prst="rect">
            <a:avLst/>
          </a:prstGeom>
        </p:spPr>
      </p:pic>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9991" y="4211593"/>
            <a:ext cx="3021843" cy="799946"/>
          </a:xfrm>
          <a:prstGeom prst="rect">
            <a:avLst/>
          </a:prstGeom>
        </p:spPr>
      </p:pic>
      <p:sp>
        <p:nvSpPr>
          <p:cNvPr id="3" name="标题 2"/>
          <p:cNvSpPr>
            <a:spLocks noGrp="1"/>
          </p:cNvSpPr>
          <p:nvPr>
            <p:ph type="title"/>
          </p:nvPr>
        </p:nvSpPr>
        <p:spPr>
          <a:xfrm>
            <a:off x="628650" y="1552217"/>
            <a:ext cx="7886700" cy="1325563"/>
          </a:xfrm>
          <a:prstGeom prst="rect">
            <a:avLst/>
          </a:prstGeom>
        </p:spPr>
        <p:txBody>
          <a:bodyPr anchor="ctr"/>
          <a:lstStyle>
            <a:lvl1pPr algn="ctr">
              <a:defRPr b="1">
                <a:solidFill>
                  <a:schemeClr val="bg1"/>
                </a:solidFill>
              </a:defRPr>
            </a:lvl1p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6.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0" y="2"/>
            <a:ext cx="9144000" cy="665863"/>
          </a:xfrm>
          <a:prstGeom prst="rect">
            <a:avLst/>
          </a:prstGeom>
        </p:spPr>
      </p:pic>
      <p:sp>
        <p:nvSpPr>
          <p:cNvPr id="5" name="标题 1"/>
          <p:cNvSpPr txBox="1"/>
          <p:nvPr/>
        </p:nvSpPr>
        <p:spPr>
          <a:xfrm>
            <a:off x="323851" y="235137"/>
            <a:ext cx="6474515" cy="337358"/>
          </a:xfrm>
          <a:prstGeom prst="rect">
            <a:avLst/>
          </a:prstGeom>
        </p:spPr>
        <p:txBody>
          <a:bodyPr anchor="ctr"/>
          <a:lstStyle>
            <a:lvl1pPr algn="l" defTabSz="914400" rtl="0" eaLnBrk="1" latinLnBrk="0" hangingPunct="1">
              <a:lnSpc>
                <a:spcPct val="90000"/>
              </a:lnSpc>
              <a:spcBef>
                <a:spcPct val="0"/>
              </a:spcBef>
              <a:buNone/>
              <a:defRPr sz="2000" kern="1200">
                <a:solidFill>
                  <a:schemeClr val="tx2"/>
                </a:solidFill>
                <a:effectLst>
                  <a:glow rad="25400">
                    <a:srgbClr val="BFE2F3"/>
                  </a:glow>
                </a:effectLst>
                <a:latin typeface="+mj-lt"/>
                <a:ea typeface="+mj-ea"/>
                <a:cs typeface="+mj-cs"/>
              </a:defRPr>
            </a:lvl1pPr>
          </a:lstStyle>
          <a:p>
            <a:r>
              <a:rPr lang="zh-CN" altLang="en-US" sz="2000" dirty="0" smtClean="0">
                <a:solidFill>
                  <a:schemeClr val="accent1"/>
                </a:solidFill>
              </a:rPr>
              <a:t>单击此处编辑母版标题样式</a:t>
            </a:r>
            <a:endParaRPr lang="zh-CN" altLang="en-US" sz="2000" dirty="0">
              <a:solidFill>
                <a:schemeClr val="accent1"/>
              </a:solidFill>
            </a:endParaRPr>
          </a:p>
        </p:txBody>
      </p:sp>
      <p:sp>
        <p:nvSpPr>
          <p:cNvPr id="6" name="文本占位符 5"/>
          <p:cNvSpPr>
            <a:spLocks noGrp="1"/>
          </p:cNvSpPr>
          <p:nvPr>
            <p:ph type="body" idx="1"/>
          </p:nvPr>
        </p:nvSpPr>
        <p:spPr>
          <a:xfrm>
            <a:off x="413469" y="807632"/>
            <a:ext cx="8340421" cy="5865560"/>
          </a:xfrm>
          <a:prstGeom prst="rect">
            <a:avLst/>
          </a:prstGeom>
        </p:spPr>
        <p:txBody>
          <a:bodyPr vert="horz" lIns="91440" tIns="45720" rIns="91440" bIns="45720" rtlCol="0">
            <a:normAutofit/>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7" name="矩形 6"/>
          <p:cNvSpPr/>
          <p:nvPr/>
        </p:nvSpPr>
        <p:spPr>
          <a:xfrm>
            <a:off x="0" y="6766562"/>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0"/>
            <a:ext cx="9144000" cy="665863"/>
          </a:xfrm>
          <a:prstGeom prst="rect">
            <a:avLst/>
          </a:prstGeom>
        </p:spPr>
      </p:pic>
      <p:sp>
        <p:nvSpPr>
          <p:cNvPr id="9" name="标题 1"/>
          <p:cNvSpPr txBox="1"/>
          <p:nvPr userDrawn="1"/>
        </p:nvSpPr>
        <p:spPr>
          <a:xfrm>
            <a:off x="323850" y="235137"/>
            <a:ext cx="6474515" cy="337358"/>
          </a:xfrm>
          <a:prstGeom prst="rect">
            <a:avLst/>
          </a:prstGeom>
        </p:spPr>
        <p:txBody>
          <a:bodyPr anchor="ctr"/>
          <a:lstStyle>
            <a:lvl1pPr algn="l" defTabSz="914400" rtl="0" eaLnBrk="1" latinLnBrk="0" hangingPunct="1">
              <a:lnSpc>
                <a:spcPct val="90000"/>
              </a:lnSpc>
              <a:spcBef>
                <a:spcPct val="0"/>
              </a:spcBef>
              <a:buNone/>
              <a:defRPr sz="2000" kern="1200">
                <a:solidFill>
                  <a:schemeClr val="tx2"/>
                </a:solidFill>
                <a:effectLst>
                  <a:glow rad="25400">
                    <a:srgbClr val="BFE2F3"/>
                  </a:glow>
                </a:effectLst>
                <a:latin typeface="+mj-lt"/>
                <a:ea typeface="+mj-ea"/>
                <a:cs typeface="+mj-cs"/>
              </a:defRPr>
            </a:lvl1pPr>
          </a:lstStyle>
          <a:p>
            <a:r>
              <a:rPr lang="zh-CN" altLang="en-US" dirty="0" smtClean="0">
                <a:solidFill>
                  <a:schemeClr val="accent1"/>
                </a:solidFill>
              </a:rPr>
              <a:t>单击此处编辑母版标题样式</a:t>
            </a:r>
            <a:endParaRPr lang="zh-CN" altLang="en-US" dirty="0">
              <a:solidFill>
                <a:schemeClr val="accent1"/>
              </a:solidFill>
            </a:endParaRPr>
          </a:p>
        </p:txBody>
      </p:sp>
      <p:sp>
        <p:nvSpPr>
          <p:cNvPr id="10" name="矩形 9"/>
          <p:cNvSpPr/>
          <p:nvPr userDrawn="1"/>
        </p:nvSpPr>
        <p:spPr>
          <a:xfrm>
            <a:off x="0" y="6766560"/>
            <a:ext cx="9144000" cy="91439"/>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Calibri" panose="020F050202020403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6" Type="http://schemas.openxmlformats.org/officeDocument/2006/relationships/slideLayout" Target="../slideLayouts/slideLayout4.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8.png"/><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多种回归方法预测上证指数</a:t>
            </a:r>
            <a:endParaRPr lang="zh-CN" altLang="en-US" dirty="0"/>
          </a:p>
        </p:txBody>
      </p:sp>
      <p:sp>
        <p:nvSpPr>
          <p:cNvPr id="5" name="副标题 4"/>
          <p:cNvSpPr>
            <a:spLocks noGrp="1"/>
          </p:cNvSpPr>
          <p:nvPr>
            <p:ph type="subTitle" idx="1"/>
          </p:nvPr>
        </p:nvSpPr>
        <p:spPr/>
        <p:txBody>
          <a:bodyPr/>
          <a:lstStyle/>
          <a:p>
            <a:r>
              <a:rPr lang="zh-CN" altLang="en-US" dirty="0" smtClean="0"/>
              <a:t>主讲人：王翌阳</a:t>
            </a:r>
            <a:endParaRPr lang="zh-CN" altLang="en-US" dirty="0"/>
          </a:p>
        </p:txBody>
      </p:sp>
      <p:sp>
        <p:nvSpPr>
          <p:cNvPr id="6" name="文本占位符 5"/>
          <p:cNvSpPr>
            <a:spLocks noGrp="1"/>
          </p:cNvSpPr>
          <p:nvPr>
            <p:ph type="body" sz="quarter" idx="10"/>
          </p:nvPr>
        </p:nvSpPr>
        <p:spPr/>
        <p:txBody>
          <a:bodyPr>
            <a:normAutofit/>
          </a:bodyPr>
          <a:lstStyle/>
          <a:p>
            <a:r>
              <a:rPr lang="en-US" altLang="zh-CN" dirty="0" smtClean="0"/>
              <a:t>2025</a:t>
            </a:r>
            <a:r>
              <a:rPr lang="zh-CN" altLang="en-US" dirty="0" smtClean="0"/>
              <a:t>年</a:t>
            </a:r>
            <a:r>
              <a:rPr lang="en-US" altLang="zh-CN" dirty="0" smtClean="0"/>
              <a:t>5</a:t>
            </a:r>
            <a:r>
              <a:rPr lang="zh-CN" altLang="en-US" dirty="0" smtClean="0"/>
              <a:t>月</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C9151E"/>
                </a:solidFill>
                <a:latin typeface="微软雅黑" panose="020B0503020204020204" pitchFamily="34" charset="-122"/>
                <a:ea typeface="微软雅黑" panose="020B0503020204020204" pitchFamily="34" charset="-122"/>
              </a:rPr>
              <a:t>目录 </a:t>
            </a:r>
            <a:r>
              <a:rPr lang="en-US" altLang="zh-CN" dirty="0">
                <a:solidFill>
                  <a:srgbClr val="C9151E"/>
                </a:solidFill>
                <a:latin typeface="微软雅黑" panose="020B0503020204020204" pitchFamily="34" charset="-122"/>
                <a:ea typeface="微软雅黑" panose="020B0503020204020204" pitchFamily="34" charset="-122"/>
              </a:rPr>
              <a:t>Contents</a:t>
            </a:r>
            <a:endParaRPr lang="zh-CN" altLang="en-US" dirty="0">
              <a:solidFill>
                <a:srgbClr val="C9151E"/>
              </a:solidFill>
              <a:latin typeface="微软雅黑" panose="020B0503020204020204" pitchFamily="34" charset="-122"/>
              <a:ea typeface="微软雅黑" panose="020B0503020204020204" pitchFamily="34" charset="-122"/>
            </a:endParaRPr>
          </a:p>
        </p:txBody>
      </p:sp>
      <p:grpSp>
        <p:nvGrpSpPr>
          <p:cNvPr id="3" name="组合 2"/>
          <p:cNvGrpSpPr/>
          <p:nvPr>
            <p:custDataLst>
              <p:tags r:id="rId1"/>
            </p:custDataLst>
          </p:nvPr>
        </p:nvGrpSpPr>
        <p:grpSpPr>
          <a:xfrm>
            <a:off x="1841535" y="1303550"/>
            <a:ext cx="843427" cy="443226"/>
            <a:chOff x="666810" y="2586037"/>
            <a:chExt cx="468000" cy="245937"/>
          </a:xfrm>
        </p:grpSpPr>
        <p:sp>
          <p:nvSpPr>
            <p:cNvPr id="4" name="Freeform 10"/>
            <p:cNvSpPr/>
            <p:nvPr userDrawn="1">
              <p:custDataLst>
                <p:tags r:id="rId2"/>
              </p:custDataLst>
            </p:nvPr>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rgbClr val="CC141E"/>
            </a:solidFill>
            <a:ln>
              <a:noFill/>
            </a:ln>
          </p:spPr>
          <p:txBody>
            <a:bodyPr vert="horz" wrap="square" lIns="91440" tIns="45720" rIns="91440" bIns="45720" numCol="1" anchor="ctr" anchorCtr="0" compatLnSpc="1">
              <a:noAutofit/>
            </a:bodyPr>
            <a:lstStyle/>
            <a:p>
              <a:pPr algn="ctr"/>
              <a:endParaRPr lang="zh-CN" altLang="en-US" sz="3200" b="1"/>
            </a:p>
          </p:txBody>
        </p:sp>
        <p:sp>
          <p:nvSpPr>
            <p:cNvPr id="5" name="文本框 4"/>
            <p:cNvSpPr txBox="1"/>
            <p:nvPr userDrawn="1">
              <p:custDataLst>
                <p:tags r:id="rId3"/>
              </p:custDataLst>
            </p:nvPr>
          </p:nvSpPr>
          <p:spPr>
            <a:xfrm>
              <a:off x="794494" y="2586037"/>
              <a:ext cx="212633" cy="245937"/>
            </a:xfrm>
            <a:prstGeom prst="rect">
              <a:avLst/>
            </a:prstGeom>
            <a:noFill/>
          </p:spPr>
          <p:txBody>
            <a:bodyPr wrap="none" rtlCol="0" anchor="ctr">
              <a:noAutofit/>
            </a:bodyPr>
            <a:lstStyle/>
            <a:p>
              <a:pPr algn="ctr"/>
              <a:r>
                <a:rPr lang="en-US" altLang="zh-CN" b="1" dirty="0" smtClean="0">
                  <a:solidFill>
                    <a:schemeClr val="bg1"/>
                  </a:solidFill>
                  <a:latin typeface="微软雅黑" panose="020B0503020204020204" pitchFamily="34" charset="-122"/>
                  <a:ea typeface="微软雅黑" panose="020B0503020204020204" pitchFamily="34" charset="-122"/>
                </a:rPr>
                <a:t>1</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7" name="直接连接符 6"/>
          <p:cNvCxnSpPr>
            <a:stCxn id="4" idx="6"/>
          </p:cNvCxnSpPr>
          <p:nvPr>
            <p:custDataLst>
              <p:tags r:id="rId4"/>
            </p:custDataLst>
          </p:nvPr>
        </p:nvCxnSpPr>
        <p:spPr>
          <a:xfrm>
            <a:off x="2534033" y="1711215"/>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custDataLst>
              <p:tags r:id="rId5"/>
            </p:custDataLst>
          </p:nvPr>
        </p:nvSpPr>
        <p:spPr>
          <a:xfrm>
            <a:off x="2915073" y="1274734"/>
            <a:ext cx="4387392" cy="460375"/>
          </a:xfrm>
          <a:prstGeom prst="rect">
            <a:avLst/>
          </a:prstGeom>
          <a:noFill/>
        </p:spPr>
        <p:txBody>
          <a:bodyPr wrap="square" rtlCol="0">
            <a:spAutoFit/>
          </a:bodyPr>
          <a:lstStyle/>
          <a:p>
            <a:r>
              <a:rPr lang="zh-CN" altLang="en-US" sz="2400" dirty="0"/>
              <a:t>灵感来源与研究意义</a:t>
            </a:r>
            <a:endParaRPr lang="zh-CN" altLang="en-US" sz="2400" dirty="0"/>
          </a:p>
        </p:txBody>
      </p:sp>
      <p:grpSp>
        <p:nvGrpSpPr>
          <p:cNvPr id="12" name="组合 11"/>
          <p:cNvGrpSpPr/>
          <p:nvPr>
            <p:custDataLst>
              <p:tags r:id="rId6"/>
            </p:custDataLst>
          </p:nvPr>
        </p:nvGrpSpPr>
        <p:grpSpPr>
          <a:xfrm>
            <a:off x="1841535" y="2223523"/>
            <a:ext cx="843427" cy="443226"/>
            <a:chOff x="666810" y="2586037"/>
            <a:chExt cx="468000" cy="245937"/>
          </a:xfrm>
        </p:grpSpPr>
        <p:sp>
          <p:nvSpPr>
            <p:cNvPr id="13" name="Freeform 10"/>
            <p:cNvSpPr/>
            <p:nvPr userDrawn="1">
              <p:custDataLst>
                <p:tags r:id="rId7"/>
              </p:custDataLst>
            </p:nvPr>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rgbClr val="CC141E"/>
            </a:solidFill>
            <a:ln>
              <a:noFill/>
            </a:ln>
          </p:spPr>
          <p:txBody>
            <a:bodyPr vert="horz" wrap="square" lIns="91440" tIns="45720" rIns="91440" bIns="45720" numCol="1" anchor="ctr" anchorCtr="0" compatLnSpc="1">
              <a:noAutofit/>
            </a:bodyPr>
            <a:lstStyle/>
            <a:p>
              <a:pPr algn="ctr"/>
              <a:endParaRPr lang="zh-CN" altLang="en-US" sz="3200" b="1"/>
            </a:p>
          </p:txBody>
        </p:sp>
        <p:sp>
          <p:nvSpPr>
            <p:cNvPr id="14" name="文本框 13"/>
            <p:cNvSpPr txBox="1"/>
            <p:nvPr userDrawn="1">
              <p:custDataLst>
                <p:tags r:id="rId8"/>
              </p:custDataLst>
            </p:nvPr>
          </p:nvSpPr>
          <p:spPr>
            <a:xfrm>
              <a:off x="794494" y="2586037"/>
              <a:ext cx="212633" cy="245937"/>
            </a:xfrm>
            <a:prstGeom prst="rect">
              <a:avLst/>
            </a:prstGeom>
            <a:noFill/>
          </p:spPr>
          <p:txBody>
            <a:bodyPr wrap="none" rtlCol="0" anchor="ctr">
              <a:noAutofit/>
            </a:bodyPr>
            <a:lstStyle/>
            <a:p>
              <a:pPr algn="ctr"/>
              <a:r>
                <a:rPr lang="en-US" altLang="zh-CN" b="1" dirty="0" smtClean="0">
                  <a:solidFill>
                    <a:schemeClr val="bg1"/>
                  </a:solidFill>
                  <a:latin typeface="微软雅黑" panose="020B0503020204020204" pitchFamily="34" charset="-122"/>
                  <a:ea typeface="微软雅黑" panose="020B0503020204020204" pitchFamily="34" charset="-122"/>
                </a:rPr>
                <a:t>2</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15" name="直接连接符 14"/>
          <p:cNvCxnSpPr>
            <a:stCxn id="13" idx="6"/>
          </p:cNvCxnSpPr>
          <p:nvPr>
            <p:custDataLst>
              <p:tags r:id="rId9"/>
            </p:custDataLst>
          </p:nvPr>
        </p:nvCxnSpPr>
        <p:spPr>
          <a:xfrm>
            <a:off x="2534033" y="2631188"/>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custDataLst>
              <p:tags r:id="rId10"/>
            </p:custDataLst>
          </p:nvPr>
        </p:nvSpPr>
        <p:spPr>
          <a:xfrm>
            <a:off x="2915073" y="2194707"/>
            <a:ext cx="4387392" cy="460375"/>
          </a:xfrm>
          <a:prstGeom prst="rect">
            <a:avLst/>
          </a:prstGeom>
          <a:noFill/>
        </p:spPr>
        <p:txBody>
          <a:bodyPr wrap="square" rtlCol="0">
            <a:spAutoFit/>
          </a:bodyPr>
          <a:lstStyle/>
          <a:p>
            <a:r>
              <a:rPr lang="zh-CN" altLang="en-US" sz="2400" dirty="0" smtClean="0"/>
              <a:t>数据来源与处理</a:t>
            </a:r>
            <a:endParaRPr lang="zh-CN" altLang="en-US" sz="2400" dirty="0"/>
          </a:p>
        </p:txBody>
      </p:sp>
      <p:grpSp>
        <p:nvGrpSpPr>
          <p:cNvPr id="17" name="组合 16"/>
          <p:cNvGrpSpPr/>
          <p:nvPr>
            <p:custDataLst>
              <p:tags r:id="rId11"/>
            </p:custDataLst>
          </p:nvPr>
        </p:nvGrpSpPr>
        <p:grpSpPr>
          <a:xfrm>
            <a:off x="1841535" y="3143496"/>
            <a:ext cx="843427" cy="443226"/>
            <a:chOff x="666810" y="2586037"/>
            <a:chExt cx="468000" cy="245937"/>
          </a:xfrm>
        </p:grpSpPr>
        <p:sp>
          <p:nvSpPr>
            <p:cNvPr id="18" name="Freeform 10"/>
            <p:cNvSpPr/>
            <p:nvPr userDrawn="1">
              <p:custDataLst>
                <p:tags r:id="rId12"/>
              </p:custDataLst>
            </p:nvPr>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rgbClr val="CC141E"/>
            </a:solidFill>
            <a:ln>
              <a:noFill/>
            </a:ln>
          </p:spPr>
          <p:txBody>
            <a:bodyPr vert="horz" wrap="square" lIns="91440" tIns="45720" rIns="91440" bIns="45720" numCol="1" anchor="ctr" anchorCtr="0" compatLnSpc="1">
              <a:noAutofit/>
            </a:bodyPr>
            <a:lstStyle/>
            <a:p>
              <a:pPr algn="ctr"/>
              <a:endParaRPr lang="zh-CN" altLang="en-US" sz="3200" b="1"/>
            </a:p>
          </p:txBody>
        </p:sp>
        <p:sp>
          <p:nvSpPr>
            <p:cNvPr id="19" name="文本框 18"/>
            <p:cNvSpPr txBox="1"/>
            <p:nvPr userDrawn="1">
              <p:custDataLst>
                <p:tags r:id="rId13"/>
              </p:custDataLst>
            </p:nvPr>
          </p:nvSpPr>
          <p:spPr>
            <a:xfrm>
              <a:off x="794494" y="2586037"/>
              <a:ext cx="212633" cy="245937"/>
            </a:xfrm>
            <a:prstGeom prst="rect">
              <a:avLst/>
            </a:prstGeom>
            <a:noFill/>
          </p:spPr>
          <p:txBody>
            <a:bodyPr wrap="none" rtlCol="0" anchor="ctr">
              <a:noAutofit/>
            </a:bodyPr>
            <a:lstStyle/>
            <a:p>
              <a:pPr algn="ctr"/>
              <a:r>
                <a:rPr lang="en-US" altLang="zh-CN" b="1" dirty="0" smtClean="0">
                  <a:solidFill>
                    <a:schemeClr val="bg1"/>
                  </a:solidFill>
                  <a:latin typeface="微软雅黑" panose="020B0503020204020204" pitchFamily="34" charset="-122"/>
                  <a:ea typeface="微软雅黑" panose="020B0503020204020204" pitchFamily="34" charset="-122"/>
                </a:rPr>
                <a:t>3</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0" name="直接连接符 19"/>
          <p:cNvCxnSpPr>
            <a:stCxn id="18" idx="6"/>
          </p:cNvCxnSpPr>
          <p:nvPr>
            <p:custDataLst>
              <p:tags r:id="rId14"/>
            </p:custDataLst>
          </p:nvPr>
        </p:nvCxnSpPr>
        <p:spPr>
          <a:xfrm>
            <a:off x="2534033" y="3551161"/>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custDataLst>
              <p:tags r:id="rId15"/>
            </p:custDataLst>
          </p:nvPr>
        </p:nvSpPr>
        <p:spPr>
          <a:xfrm>
            <a:off x="2915073" y="3114680"/>
            <a:ext cx="4387392" cy="460375"/>
          </a:xfrm>
          <a:prstGeom prst="rect">
            <a:avLst/>
          </a:prstGeom>
          <a:noFill/>
        </p:spPr>
        <p:txBody>
          <a:bodyPr wrap="square" rtlCol="0">
            <a:spAutoFit/>
          </a:bodyPr>
          <a:lstStyle/>
          <a:p>
            <a:r>
              <a:rPr lang="zh-CN" altLang="en-US" sz="2400" dirty="0" smtClean="0"/>
              <a:t>回归模型构建</a:t>
            </a:r>
            <a:endParaRPr lang="zh-CN" altLang="en-US" sz="2400" dirty="0"/>
          </a:p>
        </p:txBody>
      </p:sp>
      <p:grpSp>
        <p:nvGrpSpPr>
          <p:cNvPr id="22" name="组合 21"/>
          <p:cNvGrpSpPr/>
          <p:nvPr>
            <p:custDataLst>
              <p:tags r:id="rId16"/>
            </p:custDataLst>
          </p:nvPr>
        </p:nvGrpSpPr>
        <p:grpSpPr>
          <a:xfrm>
            <a:off x="1841535" y="4063469"/>
            <a:ext cx="843427" cy="443226"/>
            <a:chOff x="666810" y="2586037"/>
            <a:chExt cx="468000" cy="245937"/>
          </a:xfrm>
        </p:grpSpPr>
        <p:sp>
          <p:nvSpPr>
            <p:cNvPr id="23" name="Freeform 10"/>
            <p:cNvSpPr/>
            <p:nvPr userDrawn="1">
              <p:custDataLst>
                <p:tags r:id="rId17"/>
              </p:custDataLst>
            </p:nvPr>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rgbClr val="CC141E"/>
            </a:solidFill>
            <a:ln>
              <a:noFill/>
            </a:ln>
          </p:spPr>
          <p:txBody>
            <a:bodyPr vert="horz" wrap="square" lIns="91440" tIns="45720" rIns="91440" bIns="45720" numCol="1" anchor="ctr" anchorCtr="0" compatLnSpc="1">
              <a:noAutofit/>
            </a:bodyPr>
            <a:lstStyle/>
            <a:p>
              <a:pPr algn="ctr"/>
              <a:endParaRPr lang="zh-CN" altLang="en-US" sz="3200" b="1"/>
            </a:p>
          </p:txBody>
        </p:sp>
        <p:sp>
          <p:nvSpPr>
            <p:cNvPr id="24" name="文本框 23"/>
            <p:cNvSpPr txBox="1"/>
            <p:nvPr userDrawn="1">
              <p:custDataLst>
                <p:tags r:id="rId18"/>
              </p:custDataLst>
            </p:nvPr>
          </p:nvSpPr>
          <p:spPr>
            <a:xfrm>
              <a:off x="794494" y="2586037"/>
              <a:ext cx="212633" cy="245937"/>
            </a:xfrm>
            <a:prstGeom prst="rect">
              <a:avLst/>
            </a:prstGeom>
            <a:noFill/>
          </p:spPr>
          <p:txBody>
            <a:bodyPr wrap="none" rtlCol="0" anchor="ctr">
              <a:noAutofit/>
            </a:bodyPr>
            <a:lstStyle/>
            <a:p>
              <a:pPr algn="ctr"/>
              <a:r>
                <a:rPr lang="en-US" altLang="zh-CN" b="1" dirty="0" smtClean="0">
                  <a:solidFill>
                    <a:schemeClr val="bg1"/>
                  </a:solidFill>
                  <a:latin typeface="微软雅黑" panose="020B0503020204020204" pitchFamily="34" charset="-122"/>
                  <a:ea typeface="微软雅黑" panose="020B0503020204020204" pitchFamily="34" charset="-122"/>
                </a:rPr>
                <a:t>4</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5" name="直接连接符 24"/>
          <p:cNvCxnSpPr>
            <a:stCxn id="23" idx="6"/>
          </p:cNvCxnSpPr>
          <p:nvPr>
            <p:custDataLst>
              <p:tags r:id="rId19"/>
            </p:custDataLst>
          </p:nvPr>
        </p:nvCxnSpPr>
        <p:spPr>
          <a:xfrm>
            <a:off x="2534033" y="4471134"/>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custDataLst>
              <p:tags r:id="rId20"/>
            </p:custDataLst>
          </p:nvPr>
        </p:nvSpPr>
        <p:spPr>
          <a:xfrm>
            <a:off x="2915073" y="4034653"/>
            <a:ext cx="4387392" cy="460375"/>
          </a:xfrm>
          <a:prstGeom prst="rect">
            <a:avLst/>
          </a:prstGeom>
          <a:noFill/>
        </p:spPr>
        <p:txBody>
          <a:bodyPr wrap="square" rtlCol="0">
            <a:spAutoFit/>
          </a:bodyPr>
          <a:lstStyle/>
          <a:p>
            <a:r>
              <a:rPr lang="zh-CN" altLang="en-US" sz="2400" dirty="0" smtClean="0"/>
              <a:t>模型评估与选择</a:t>
            </a:r>
            <a:endParaRPr lang="zh-CN" altLang="en-US" sz="2400" dirty="0"/>
          </a:p>
        </p:txBody>
      </p:sp>
      <p:grpSp>
        <p:nvGrpSpPr>
          <p:cNvPr id="32" name="组合 31"/>
          <p:cNvGrpSpPr/>
          <p:nvPr>
            <p:custDataLst>
              <p:tags r:id="rId21"/>
            </p:custDataLst>
          </p:nvPr>
        </p:nvGrpSpPr>
        <p:grpSpPr>
          <a:xfrm>
            <a:off x="1841535" y="4983444"/>
            <a:ext cx="843427" cy="443226"/>
            <a:chOff x="666810" y="2586037"/>
            <a:chExt cx="468000" cy="245937"/>
          </a:xfrm>
        </p:grpSpPr>
        <p:sp>
          <p:nvSpPr>
            <p:cNvPr id="33" name="Freeform 10"/>
            <p:cNvSpPr/>
            <p:nvPr userDrawn="1">
              <p:custDataLst>
                <p:tags r:id="rId22"/>
              </p:custDataLst>
            </p:nvPr>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rgbClr val="CC141E"/>
            </a:solidFill>
            <a:ln>
              <a:noFill/>
            </a:ln>
          </p:spPr>
          <p:txBody>
            <a:bodyPr vert="horz" wrap="square" lIns="91440" tIns="45720" rIns="91440" bIns="45720" numCol="1" anchor="ctr" anchorCtr="0" compatLnSpc="1">
              <a:noAutofit/>
            </a:bodyPr>
            <a:lstStyle/>
            <a:p>
              <a:pPr algn="ctr"/>
              <a:endParaRPr lang="zh-CN" altLang="en-US" sz="3200" b="1"/>
            </a:p>
          </p:txBody>
        </p:sp>
        <p:sp>
          <p:nvSpPr>
            <p:cNvPr id="34" name="文本框 33"/>
            <p:cNvSpPr txBox="1"/>
            <p:nvPr userDrawn="1">
              <p:custDataLst>
                <p:tags r:id="rId23"/>
              </p:custDataLst>
            </p:nvPr>
          </p:nvSpPr>
          <p:spPr>
            <a:xfrm>
              <a:off x="794494" y="2586037"/>
              <a:ext cx="212633" cy="245937"/>
            </a:xfrm>
            <a:prstGeom prst="rect">
              <a:avLst/>
            </a:prstGeom>
            <a:noFill/>
          </p:spPr>
          <p:txBody>
            <a:bodyPr wrap="none" rtlCol="0" anchor="ctr">
              <a:noAutofit/>
            </a:bodyPr>
            <a:lstStyle/>
            <a:p>
              <a:pPr algn="ctr"/>
              <a:r>
                <a:rPr lang="en-US" altLang="zh-CN" b="1" dirty="0" smtClean="0">
                  <a:solidFill>
                    <a:schemeClr val="bg1"/>
                  </a:solidFill>
                  <a:latin typeface="微软雅黑" panose="020B0503020204020204" pitchFamily="34" charset="-122"/>
                  <a:ea typeface="微软雅黑" panose="020B0503020204020204" pitchFamily="34" charset="-122"/>
                </a:rPr>
                <a:t>5</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35" name="直接连接符 34"/>
          <p:cNvCxnSpPr>
            <a:stCxn id="33" idx="6"/>
          </p:cNvCxnSpPr>
          <p:nvPr>
            <p:custDataLst>
              <p:tags r:id="rId24"/>
            </p:custDataLst>
          </p:nvPr>
        </p:nvCxnSpPr>
        <p:spPr>
          <a:xfrm>
            <a:off x="2534033" y="5391109"/>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custDataLst>
              <p:tags r:id="rId25"/>
            </p:custDataLst>
          </p:nvPr>
        </p:nvSpPr>
        <p:spPr>
          <a:xfrm>
            <a:off x="2915073" y="4954628"/>
            <a:ext cx="4387392" cy="460375"/>
          </a:xfrm>
          <a:prstGeom prst="rect">
            <a:avLst/>
          </a:prstGeom>
          <a:noFill/>
        </p:spPr>
        <p:txBody>
          <a:bodyPr wrap="square" rtlCol="0">
            <a:spAutoFit/>
          </a:bodyPr>
          <a:lstStyle/>
          <a:p>
            <a:r>
              <a:rPr lang="zh-CN" altLang="en-US" sz="2400" dirty="0" smtClean="0"/>
              <a:t>研究结论与展望</a:t>
            </a:r>
            <a:endParaRPr lang="zh-CN" altLang="en-US"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灵感来源</a:t>
            </a:r>
            <a:endParaRPr lang="zh-CN" altLang="en-US" dirty="0"/>
          </a:p>
        </p:txBody>
      </p:sp>
      <p:pic>
        <p:nvPicPr>
          <p:cNvPr id="20" name="图片 19"/>
          <p:cNvPicPr>
            <a:picLocks noChangeAspect="1"/>
          </p:cNvPicPr>
          <p:nvPr/>
        </p:nvPicPr>
        <p:blipFill>
          <a:blip r:embed="rId1"/>
          <a:srcRect t="5166" b="36058"/>
          <a:stretch>
            <a:fillRect/>
          </a:stretch>
        </p:blipFill>
        <p:spPr>
          <a:xfrm>
            <a:off x="305435" y="1767205"/>
            <a:ext cx="3761105" cy="4792345"/>
          </a:xfrm>
          <a:prstGeom prst="rect">
            <a:avLst/>
          </a:prstGeom>
        </p:spPr>
      </p:pic>
      <p:pic>
        <p:nvPicPr>
          <p:cNvPr id="22" name="图片 21"/>
          <p:cNvPicPr>
            <a:picLocks noChangeAspect="1"/>
          </p:cNvPicPr>
          <p:nvPr/>
        </p:nvPicPr>
        <p:blipFill>
          <a:blip r:embed="rId2"/>
          <a:stretch>
            <a:fillRect/>
          </a:stretch>
        </p:blipFill>
        <p:spPr>
          <a:xfrm>
            <a:off x="4203065" y="2869565"/>
            <a:ext cx="4791710" cy="3518535"/>
          </a:xfrm>
          <a:prstGeom prst="rect">
            <a:avLst/>
          </a:prstGeom>
        </p:spPr>
      </p:pic>
      <p:sp>
        <p:nvSpPr>
          <p:cNvPr id="2" name="标题 2"/>
          <p:cNvSpPr>
            <a:spLocks noGrp="1"/>
          </p:cNvSpPr>
          <p:nvPr/>
        </p:nvSpPr>
        <p:spPr>
          <a:xfrm>
            <a:off x="4857115" y="1946910"/>
            <a:ext cx="3582670" cy="574040"/>
          </a:xfrm>
          <a:prstGeom prst="rect">
            <a:avLst/>
          </a:prstGeom>
        </p:spPr>
        <p:txBody>
          <a:bodyPr/>
          <a:lstStyle>
            <a:lvl1pPr algn="l" defTabSz="914400" rtl="0" eaLnBrk="1" latinLnBrk="0" hangingPunct="1">
              <a:lnSpc>
                <a:spcPct val="90000"/>
              </a:lnSpc>
              <a:spcBef>
                <a:spcPct val="0"/>
              </a:spcBef>
              <a:buNone/>
              <a:defRPr sz="3200" b="1" kern="1200">
                <a:solidFill>
                  <a:schemeClr val="accent1"/>
                </a:solidFill>
                <a:latin typeface="+mj-lt"/>
                <a:ea typeface="+mj-ea"/>
                <a:cs typeface="+mj-cs"/>
              </a:defRPr>
            </a:lvl1pPr>
          </a:lstStyle>
          <a:p>
            <a:r>
              <a:rPr lang="en-US" altLang="zh-CN" sz="2400" dirty="0">
                <a:solidFill>
                  <a:schemeClr val="tx1"/>
                </a:solidFill>
              </a:rPr>
              <a:t>“</a:t>
            </a:r>
            <a:r>
              <a:rPr lang="zh-CN" altLang="en-US" sz="2400" dirty="0">
                <a:solidFill>
                  <a:schemeClr val="tx1"/>
                </a:solidFill>
              </a:rPr>
              <a:t>对等关税</a:t>
            </a:r>
            <a:r>
              <a:rPr lang="en-US" altLang="zh-CN" sz="2400" dirty="0">
                <a:solidFill>
                  <a:schemeClr val="tx1"/>
                </a:solidFill>
              </a:rPr>
              <a:t>”   84%   125%</a:t>
            </a:r>
            <a:endParaRPr lang="en-US" altLang="zh-CN" sz="2400" dirty="0">
              <a:solidFill>
                <a:schemeClr val="tx1"/>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94030" y="1774825"/>
            <a:ext cx="8372475" cy="3922395"/>
          </a:xfrm>
        </p:spPr>
        <p:txBody>
          <a:bodyPr>
            <a:noAutofit/>
          </a:bodyPr>
          <a:lstStyle/>
          <a:p>
            <a:r>
              <a:rPr lang="zh-CN" altLang="en-US" sz="2400" dirty="0">
                <a:latin typeface="+mn-ea"/>
                <a:cs typeface="+mn-ea"/>
              </a:rPr>
              <a:t>上证指数全称是</a:t>
            </a:r>
            <a:r>
              <a:rPr lang="en-US" altLang="zh-CN" sz="2400" dirty="0">
                <a:latin typeface="+mn-ea"/>
                <a:cs typeface="+mn-ea"/>
              </a:rPr>
              <a:t>“</a:t>
            </a:r>
            <a:r>
              <a:rPr lang="zh-CN" altLang="en-US" sz="2400" dirty="0">
                <a:latin typeface="+mn-ea"/>
                <a:cs typeface="+mn-ea"/>
              </a:rPr>
              <a:t>上海证券综合指数</a:t>
            </a:r>
            <a:r>
              <a:rPr lang="en-US" altLang="zh-CN" sz="2400" dirty="0">
                <a:latin typeface="+mn-ea"/>
                <a:cs typeface="+mn-ea"/>
              </a:rPr>
              <a:t>”</a:t>
            </a:r>
            <a:endParaRPr lang="en-US" altLang="zh-CN" sz="2400" dirty="0">
              <a:latin typeface="+mn-ea"/>
              <a:cs typeface="+mn-ea"/>
            </a:endParaRPr>
          </a:p>
          <a:p>
            <a:r>
              <a:rPr lang="zh-CN" altLang="en-US" sz="2400" dirty="0">
                <a:latin typeface="+mn-ea"/>
                <a:cs typeface="+mn-ea"/>
              </a:rPr>
              <a:t>样本股包括在上海证券交易所上市的全部股票，</a:t>
            </a:r>
            <a:endParaRPr lang="zh-CN" altLang="en-US" sz="2400" dirty="0">
              <a:latin typeface="+mn-ea"/>
              <a:cs typeface="+mn-ea"/>
            </a:endParaRPr>
          </a:p>
          <a:p>
            <a:pPr marL="0" indent="0">
              <a:buNone/>
            </a:pPr>
            <a:r>
              <a:rPr lang="en-US" altLang="zh-CN" sz="2400" dirty="0">
                <a:latin typeface="+mn-ea"/>
                <a:cs typeface="+mn-ea"/>
              </a:rPr>
              <a:t>    </a:t>
            </a:r>
            <a:r>
              <a:rPr lang="zh-CN" altLang="en-US" sz="2400" dirty="0">
                <a:latin typeface="+mn-ea"/>
                <a:cs typeface="+mn-ea"/>
              </a:rPr>
              <a:t>其中既有大盘蓝筹股，也有中小盘股。</a:t>
            </a:r>
            <a:endParaRPr lang="zh-CN" altLang="en-US" sz="2400" dirty="0">
              <a:latin typeface="+mn-ea"/>
              <a:cs typeface="+mn-ea"/>
            </a:endParaRPr>
          </a:p>
          <a:p>
            <a:pPr marL="0" indent="0">
              <a:buNone/>
            </a:pPr>
            <a:endParaRPr lang="zh-CN" altLang="en-US" sz="2400" dirty="0">
              <a:latin typeface="+mn-ea"/>
              <a:cs typeface="+mn-ea"/>
            </a:endParaRPr>
          </a:p>
          <a:p>
            <a:r>
              <a:rPr lang="zh-CN" altLang="en-US" sz="2400" dirty="0" smtClean="0">
                <a:latin typeface="+mn-ea"/>
                <a:cs typeface="+mn-ea"/>
              </a:rPr>
              <a:t>反映中国证券市场整体运行状况</a:t>
            </a:r>
            <a:endParaRPr lang="zh-CN" altLang="en-US" sz="2400" dirty="0" smtClean="0">
              <a:latin typeface="+mn-ea"/>
              <a:cs typeface="+mn-ea"/>
            </a:endParaRPr>
          </a:p>
          <a:p>
            <a:r>
              <a:rPr lang="zh-CN" altLang="en-US" sz="2400" dirty="0" smtClean="0">
                <a:latin typeface="+mn-ea"/>
                <a:cs typeface="+mn-ea"/>
              </a:rPr>
              <a:t>投资参考指标</a:t>
            </a:r>
            <a:endParaRPr lang="zh-CN" altLang="en-US" sz="2400" dirty="0" smtClean="0">
              <a:latin typeface="+mn-ea"/>
              <a:cs typeface="+mn-ea"/>
            </a:endParaRPr>
          </a:p>
          <a:p>
            <a:r>
              <a:rPr lang="zh-CN" altLang="en-US" sz="2400" dirty="0" smtClean="0">
                <a:latin typeface="+mn-ea"/>
                <a:cs typeface="+mn-ea"/>
              </a:rPr>
              <a:t>部分反映宏观经济（走势与</a:t>
            </a:r>
            <a:r>
              <a:rPr lang="en-US" altLang="zh-CN" sz="2400" dirty="0" smtClean="0">
                <a:latin typeface="+mn-ea"/>
                <a:cs typeface="+mn-ea"/>
              </a:rPr>
              <a:t>GDP</a:t>
            </a:r>
            <a:r>
              <a:rPr lang="zh-CN" altLang="en-US" sz="2400" dirty="0" smtClean="0">
                <a:latin typeface="+mn-ea"/>
                <a:cs typeface="+mn-ea"/>
              </a:rPr>
              <a:t>的增长有一定相关性）</a:t>
            </a:r>
            <a:endParaRPr lang="zh-CN" altLang="en-US" sz="2400" dirty="0" smtClean="0">
              <a:latin typeface="+mn-ea"/>
              <a:cs typeface="+mn-ea"/>
            </a:endParaRPr>
          </a:p>
        </p:txBody>
      </p:sp>
      <p:sp>
        <p:nvSpPr>
          <p:cNvPr id="3" name="标题 2"/>
          <p:cNvSpPr>
            <a:spLocks noGrp="1"/>
          </p:cNvSpPr>
          <p:nvPr>
            <p:ph type="title"/>
          </p:nvPr>
        </p:nvSpPr>
        <p:spPr/>
        <p:txBody>
          <a:bodyPr/>
          <a:lstStyle/>
          <a:p>
            <a:r>
              <a:rPr lang="zh-CN" altLang="en-US" dirty="0"/>
              <a:t>研究意义</a:t>
            </a:r>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94030" y="1774825"/>
            <a:ext cx="8372475" cy="4750435"/>
          </a:xfrm>
        </p:spPr>
        <p:txBody>
          <a:bodyPr>
            <a:noAutofit/>
          </a:bodyPr>
          <a:lstStyle/>
          <a:p>
            <a:endParaRPr lang="en-US" sz="2000" b="1" dirty="0">
              <a:latin typeface="+mn-ea"/>
              <a:cs typeface="+mn-ea"/>
            </a:endParaRPr>
          </a:p>
          <a:p>
            <a:endParaRPr lang="en-US" sz="2000" b="1" dirty="0">
              <a:latin typeface="+mn-ea"/>
              <a:cs typeface="+mn-ea"/>
            </a:endParaRPr>
          </a:p>
          <a:p>
            <a:endParaRPr lang="en-US" sz="2000" b="1" dirty="0">
              <a:latin typeface="+mn-ea"/>
              <a:cs typeface="+mn-ea"/>
            </a:endParaRPr>
          </a:p>
          <a:p>
            <a:endParaRPr lang="en-US" sz="2000" b="1" dirty="0">
              <a:latin typeface="+mn-ea"/>
              <a:cs typeface="+mn-ea"/>
            </a:endParaRPr>
          </a:p>
          <a:p>
            <a:r>
              <a:rPr lang="en-US" sz="2000" b="1" dirty="0">
                <a:latin typeface="+mn-ea"/>
                <a:cs typeface="+mn-ea"/>
              </a:rPr>
              <a:t>Yahoo Finance</a:t>
            </a:r>
            <a:endParaRPr lang="en-US" sz="2000" b="1" dirty="0">
              <a:latin typeface="+mn-ea"/>
              <a:cs typeface="+mn-ea"/>
            </a:endParaRPr>
          </a:p>
          <a:p>
            <a:r>
              <a:rPr lang="zh-CN" altLang="en-US" sz="2000">
                <a:solidFill>
                  <a:schemeClr val="tx1"/>
                </a:solidFill>
                <a:latin typeface="+mn-ea"/>
                <a:cs typeface="+mn-ea"/>
                <a:sym typeface="+mn-ea"/>
              </a:rPr>
              <a:t>全球访问量最大的财经网站之一，是一个综合性的金融信息平台，用户可以通过该平台获取股票、债券、外汇、加密货币等多种金融产品的实时和历史数据。</a:t>
            </a:r>
            <a:endParaRPr lang="zh-CN" altLang="en-US" sz="2000" b="0" i="0">
              <a:solidFill>
                <a:schemeClr val="tx1"/>
              </a:solidFill>
              <a:latin typeface="+mn-ea"/>
              <a:cs typeface="+mn-ea"/>
              <a:sym typeface="+mn-ea"/>
            </a:endParaRPr>
          </a:p>
          <a:p>
            <a:r>
              <a:rPr kumimoji="1" lang="en-US" altLang="zh-CN" sz="2000">
                <a:ln w="12700">
                  <a:noFill/>
                </a:ln>
                <a:solidFill>
                  <a:srgbClr val="262626">
                    <a:alpha val="100000"/>
                  </a:srgbClr>
                </a:solidFill>
                <a:latin typeface="+mn-ea"/>
                <a:cs typeface="+mn-ea"/>
                <a:sym typeface="+mn-ea"/>
              </a:rPr>
              <a:t>选取2015年1月5日至2025年5月7日的数据，涵盖所有可交易日。</a:t>
            </a:r>
            <a:endParaRPr kumimoji="1" lang="en-US" altLang="zh-CN" sz="2000">
              <a:ln w="12700">
                <a:noFill/>
              </a:ln>
              <a:solidFill>
                <a:srgbClr val="262626">
                  <a:alpha val="100000"/>
                </a:srgbClr>
              </a:solidFill>
              <a:latin typeface="+mn-ea"/>
              <a:cs typeface="+mn-ea"/>
            </a:endParaRPr>
          </a:p>
          <a:p>
            <a:pPr algn="l">
              <a:lnSpc>
                <a:spcPct val="150000"/>
              </a:lnSpc>
            </a:pPr>
            <a:r>
              <a:rPr kumimoji="1" lang="en-US" altLang="zh-CN" sz="2000">
                <a:ln w="12700">
                  <a:noFill/>
                </a:ln>
                <a:solidFill>
                  <a:srgbClr val="262626">
                    <a:alpha val="100000"/>
                  </a:srgbClr>
                </a:solidFill>
                <a:latin typeface="+mn-ea"/>
                <a:cs typeface="+mn-ea"/>
                <a:sym typeface="+mn-ea"/>
              </a:rPr>
              <a:t>80%数据作为训练集，20%作为测试集，用于模型训练与评估。</a:t>
            </a:r>
            <a:endParaRPr lang="zh-CN" altLang="en-US" sz="2000" b="0" i="0" dirty="0" smtClean="0">
              <a:solidFill>
                <a:schemeClr val="tx1"/>
              </a:solidFill>
              <a:latin typeface="+mn-ea"/>
              <a:cs typeface="+mn-ea"/>
            </a:endParaRPr>
          </a:p>
          <a:p>
            <a:endParaRPr lang="zh-CN" altLang="en-US" sz="2000" b="0" i="0">
              <a:solidFill>
                <a:schemeClr val="tx1"/>
              </a:solidFill>
              <a:latin typeface="+mn-ea"/>
              <a:cs typeface="+mn-ea"/>
            </a:endParaRPr>
          </a:p>
          <a:p>
            <a:endParaRPr lang="zh-CN" altLang="en-US" sz="2000" b="0" i="0" dirty="0" smtClean="0">
              <a:solidFill>
                <a:schemeClr val="tx1"/>
              </a:solidFill>
              <a:latin typeface="+mn-ea"/>
              <a:cs typeface="+mn-ea"/>
            </a:endParaRPr>
          </a:p>
        </p:txBody>
      </p:sp>
      <p:sp>
        <p:nvSpPr>
          <p:cNvPr id="6" name="标题 5"/>
          <p:cNvSpPr>
            <a:spLocks noGrp="1"/>
          </p:cNvSpPr>
          <p:nvPr>
            <p:ph type="title"/>
          </p:nvPr>
        </p:nvSpPr>
        <p:spPr/>
        <p:txBody>
          <a:bodyPr/>
          <a:lstStyle/>
          <a:p>
            <a:r>
              <a:rPr lang="zh-CN" altLang="en-US" dirty="0" smtClean="0"/>
              <a:t>数据来源</a:t>
            </a:r>
            <a:endParaRPr lang="zh-CN" altLang="en-US" dirty="0"/>
          </a:p>
        </p:txBody>
      </p:sp>
      <p:pic>
        <p:nvPicPr>
          <p:cNvPr id="25" name="图片 24"/>
          <p:cNvPicPr>
            <a:picLocks noChangeAspect="1"/>
          </p:cNvPicPr>
          <p:nvPr/>
        </p:nvPicPr>
        <p:blipFill>
          <a:blip r:embed="rId1"/>
          <a:stretch>
            <a:fillRect/>
          </a:stretch>
        </p:blipFill>
        <p:spPr>
          <a:xfrm>
            <a:off x="2727960" y="845185"/>
            <a:ext cx="5925820" cy="335724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smtClean="0"/>
              <a:t>数据处理</a:t>
            </a:r>
            <a:endParaRPr lang="zh-CN" altLang="en-US" dirty="0"/>
          </a:p>
        </p:txBody>
      </p:sp>
      <p:pic>
        <p:nvPicPr>
          <p:cNvPr id="52" name="图片 6"/>
          <p:cNvPicPr>
            <a:picLocks noChangeAspect="1"/>
          </p:cNvPicPr>
          <p:nvPr/>
        </p:nvPicPr>
        <p:blipFill>
          <a:blip r:embed="rId1">
            <a:clrChange>
              <a:clrFrom>
                <a:srgbClr val="F5F5F5">
                  <a:alpha val="100000"/>
                </a:srgbClr>
              </a:clrFrom>
              <a:clrTo>
                <a:srgbClr val="F5F5F5">
                  <a:alpha val="100000"/>
                  <a:alpha val="0"/>
                </a:srgbClr>
              </a:clrTo>
            </a:clrChange>
          </a:blip>
          <a:stretch>
            <a:fillRect/>
          </a:stretch>
        </p:blipFill>
        <p:spPr>
          <a:xfrm>
            <a:off x="2614295" y="1671320"/>
            <a:ext cx="3019425" cy="692150"/>
          </a:xfrm>
          <a:prstGeom prst="rect">
            <a:avLst/>
          </a:prstGeom>
          <a:noFill/>
          <a:ln>
            <a:noFill/>
          </a:ln>
        </p:spPr>
      </p:pic>
      <p:sp>
        <p:nvSpPr>
          <p:cNvPr id="54" name="内容占位符 53"/>
          <p:cNvSpPr>
            <a:spLocks noGrp="1"/>
          </p:cNvSpPr>
          <p:nvPr>
            <p:ph sz="quarter" idx="10"/>
          </p:nvPr>
        </p:nvSpPr>
        <p:spPr>
          <a:xfrm>
            <a:off x="494030" y="1774825"/>
            <a:ext cx="8372475" cy="4750435"/>
          </a:xfrm>
        </p:spPr>
        <p:txBody>
          <a:bodyPr>
            <a:noAutofit/>
          </a:bodyPr>
          <a:p>
            <a:r>
              <a:rPr lang="zh-CN" altLang="en-US" sz="2400" b="1" dirty="0">
                <a:latin typeface="+mn-ea"/>
                <a:cs typeface="+mn-ea"/>
              </a:rPr>
              <a:t>数据标准化</a:t>
            </a:r>
            <a:endParaRPr lang="zh-CN" altLang="en-US" sz="2400" b="1" dirty="0">
              <a:latin typeface="+mn-ea"/>
              <a:cs typeface="+mn-ea"/>
            </a:endParaRPr>
          </a:p>
          <a:p>
            <a:pPr algn="just">
              <a:lnSpc>
                <a:spcPct val="150000"/>
              </a:lnSpc>
            </a:pPr>
            <a:r>
              <a:rPr lang="zh-CN" altLang="en-US" sz="2000" dirty="0" smtClean="0">
                <a:latin typeface="+mn-ea"/>
                <a:cs typeface="+mn-ea"/>
                <a:sym typeface="+mn-ea"/>
              </a:rPr>
              <a:t>使数据具有零均值和单位方差，提升模型性能。</a:t>
            </a:r>
            <a:endParaRPr lang="zh-CN" altLang="en-US" sz="2000" b="0" i="0" dirty="0" smtClean="0">
              <a:solidFill>
                <a:schemeClr val="tx1"/>
              </a:solidFill>
              <a:latin typeface="+mn-ea"/>
              <a:cs typeface="+mn-ea"/>
            </a:endParaRPr>
          </a:p>
          <a:p>
            <a:endParaRPr lang="zh-CN" altLang="en-US" sz="2000" b="0" i="0" dirty="0" smtClean="0">
              <a:solidFill>
                <a:schemeClr val="tx1"/>
              </a:solidFill>
              <a:latin typeface="+mn-ea"/>
              <a:cs typeface="+mn-ea"/>
            </a:endParaRPr>
          </a:p>
          <a:p>
            <a:endParaRPr lang="zh-CN" altLang="en-US" sz="2000" b="0" i="0" dirty="0" smtClean="0">
              <a:solidFill>
                <a:schemeClr val="tx1"/>
              </a:solidFill>
              <a:latin typeface="+mn-ea"/>
              <a:cs typeface="+mn-ea"/>
            </a:endParaRPr>
          </a:p>
          <a:p>
            <a:r>
              <a:rPr lang="zh-CN" altLang="en-US" sz="2400" b="1" i="0" dirty="0" smtClean="0">
                <a:solidFill>
                  <a:schemeClr val="tx1"/>
                </a:solidFill>
                <a:latin typeface="+mn-ea"/>
                <a:cs typeface="+mn-ea"/>
              </a:rPr>
              <a:t>特征选择</a:t>
            </a:r>
            <a:endParaRPr lang="zh-CN" altLang="en-US" sz="2400" b="1" i="0" dirty="0" smtClean="0">
              <a:solidFill>
                <a:schemeClr val="tx1"/>
              </a:solidFill>
              <a:latin typeface="+mn-ea"/>
              <a:cs typeface="+mn-ea"/>
            </a:endParaRPr>
          </a:p>
          <a:p>
            <a:pPr algn="just">
              <a:lnSpc>
                <a:spcPct val="150000"/>
              </a:lnSpc>
            </a:pPr>
            <a:r>
              <a:rPr lang="zh-CN" altLang="en-US" sz="2000" dirty="0" smtClean="0">
                <a:latin typeface="+mn-ea"/>
                <a:cs typeface="+mn-ea"/>
                <a:sym typeface="+mn-ea"/>
              </a:rPr>
              <a:t>计算MA5、MA10、RSI和MACD等技术指标，作为模型输入特征</a:t>
            </a:r>
            <a:endParaRPr lang="zh-CN" altLang="en-US" sz="2000" dirty="0" smtClean="0">
              <a:latin typeface="+mn-ea"/>
              <a:cs typeface="+mn-ea"/>
              <a:sym typeface="+mn-ea"/>
            </a:endParaRPr>
          </a:p>
          <a:p>
            <a:pPr algn="just">
              <a:lnSpc>
                <a:spcPct val="150000"/>
              </a:lnSpc>
            </a:pPr>
            <a:r>
              <a:rPr lang="zh-CN" altLang="en-US" sz="2000" b="0" i="0" dirty="0" smtClean="0">
                <a:solidFill>
                  <a:schemeClr val="tx1"/>
                </a:solidFill>
                <a:latin typeface="+mn-ea"/>
                <a:cs typeface="+mn-ea"/>
              </a:rPr>
              <a:t>相对强弱指数</a:t>
            </a:r>
            <a:r>
              <a:rPr lang="en-US" altLang="zh-CN" sz="2000" b="0" i="0" dirty="0" smtClean="0">
                <a:solidFill>
                  <a:schemeClr val="tx1"/>
                </a:solidFill>
                <a:latin typeface="+mn-ea"/>
                <a:cs typeface="+mn-ea"/>
              </a:rPr>
              <a:t>RSI</a:t>
            </a:r>
            <a:r>
              <a:rPr lang="zh-CN" altLang="en-US" sz="2000" b="0" i="0" dirty="0" smtClean="0">
                <a:solidFill>
                  <a:schemeClr val="tx1"/>
                </a:solidFill>
                <a:latin typeface="+mn-ea"/>
                <a:cs typeface="+mn-ea"/>
              </a:rPr>
              <a:t>：衡量股票价格变动的速度和变动的幅度，</a:t>
            </a:r>
            <a:endParaRPr lang="zh-CN" altLang="en-US" sz="2000" b="0" i="0" dirty="0" smtClean="0">
              <a:solidFill>
                <a:schemeClr val="tx1"/>
              </a:solidFill>
              <a:latin typeface="+mn-ea"/>
              <a:cs typeface="+mn-ea"/>
            </a:endParaRPr>
          </a:p>
          <a:p>
            <a:pPr algn="just">
              <a:lnSpc>
                <a:spcPct val="150000"/>
              </a:lnSpc>
            </a:pPr>
            <a:r>
              <a:rPr lang="zh-CN" altLang="en-US" sz="2000" b="0" i="0" dirty="0" smtClean="0">
                <a:solidFill>
                  <a:schemeClr val="tx1"/>
                </a:solidFill>
                <a:latin typeface="+mn-ea"/>
                <a:cs typeface="+mn-ea"/>
              </a:rPr>
              <a:t>指数平滑异同移动平均线</a:t>
            </a:r>
            <a:r>
              <a:rPr lang="en-US" altLang="zh-CN" sz="2000" b="0" i="0" dirty="0" smtClean="0">
                <a:solidFill>
                  <a:schemeClr val="tx1"/>
                </a:solidFill>
                <a:latin typeface="+mn-ea"/>
                <a:cs typeface="+mn-ea"/>
              </a:rPr>
              <a:t>MACD</a:t>
            </a:r>
            <a:r>
              <a:rPr lang="zh-CN" altLang="en-US" sz="2000" b="0" i="0" dirty="0" smtClean="0">
                <a:solidFill>
                  <a:schemeClr val="tx1"/>
                </a:solidFill>
                <a:latin typeface="+mn-ea"/>
                <a:cs typeface="+mn-ea"/>
              </a:rPr>
              <a:t>：通过计算短期和长期指数移动平均线之间的差异，预测价格走势</a:t>
            </a:r>
            <a:endParaRPr lang="zh-CN" altLang="en-US" sz="2000" b="0" i="0" dirty="0" smtClean="0">
              <a:solidFill>
                <a:schemeClr val="tx1"/>
              </a:solidFill>
              <a:latin typeface="+mn-ea"/>
              <a:cs typeface="+mn-ea"/>
            </a:endParaRPr>
          </a:p>
        </p:txBody>
      </p:sp>
      <p:pic>
        <p:nvPicPr>
          <p:cNvPr id="55" name="图片 54"/>
          <p:cNvPicPr>
            <a:picLocks noChangeAspect="1"/>
          </p:cNvPicPr>
          <p:nvPr/>
        </p:nvPicPr>
        <p:blipFill>
          <a:blip r:embed="rId2">
            <a:clrChange>
              <a:clrFrom>
                <a:srgbClr val="F5F5F5">
                  <a:alpha val="100000"/>
                </a:srgbClr>
              </a:clrFrom>
              <a:clrTo>
                <a:srgbClr val="F5F5F5">
                  <a:alpha val="100000"/>
                  <a:alpha val="0"/>
                </a:srgbClr>
              </a:clrTo>
            </a:clrChange>
          </a:blip>
          <a:stretch>
            <a:fillRect/>
          </a:stretch>
        </p:blipFill>
        <p:spPr>
          <a:xfrm>
            <a:off x="2339975" y="3268980"/>
            <a:ext cx="6526530" cy="1209675"/>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内容占位符 53"/>
          <p:cNvSpPr>
            <a:spLocks noGrp="1"/>
          </p:cNvSpPr>
          <p:nvPr>
            <p:ph sz="quarter" idx="10"/>
          </p:nvPr>
        </p:nvSpPr>
        <p:spPr>
          <a:xfrm>
            <a:off x="494030" y="1774825"/>
            <a:ext cx="8372475" cy="4750435"/>
          </a:xfrm>
        </p:spPr>
        <p:txBody>
          <a:bodyPr>
            <a:noAutofit/>
          </a:bodyPr>
          <a:p>
            <a:r>
              <a:rPr lang="zh-CN" altLang="en-US" sz="2400" b="1" dirty="0">
                <a:latin typeface="+mn-ea"/>
                <a:cs typeface="+mn-ea"/>
              </a:rPr>
              <a:t>多重共线性处理</a:t>
            </a:r>
            <a:endParaRPr lang="zh-CN" altLang="en-US" sz="2400" b="1" dirty="0">
              <a:latin typeface="+mn-ea"/>
              <a:cs typeface="+mn-ea"/>
            </a:endParaRPr>
          </a:p>
          <a:p>
            <a:pPr algn="just">
              <a:lnSpc>
                <a:spcPct val="150000"/>
              </a:lnSpc>
              <a:buSzTx/>
            </a:pPr>
            <a:r>
              <a:rPr lang="zh-CN" altLang="en-US" sz="2000" dirty="0" smtClean="0">
                <a:latin typeface="+mn-ea"/>
                <a:cs typeface="+mn-ea"/>
                <a:sym typeface="+mn-ea"/>
              </a:rPr>
              <a:t>计算相关性系数矩阵，剔除相关性过高的变量，避免模型参数不稳定。</a:t>
            </a:r>
            <a:endParaRPr lang="zh-CN" altLang="en-US" sz="2000" b="0" i="0" dirty="0" smtClean="0">
              <a:solidFill>
                <a:schemeClr val="tx1"/>
              </a:solidFill>
              <a:latin typeface="+mn-ea"/>
              <a:cs typeface="+mn-ea"/>
            </a:endParaRPr>
          </a:p>
          <a:p>
            <a:endParaRPr lang="zh-CN" altLang="en-US" sz="2000" b="0" i="0" dirty="0" smtClean="0">
              <a:solidFill>
                <a:schemeClr val="tx1"/>
              </a:solidFill>
              <a:latin typeface="+mn-ea"/>
              <a:cs typeface="+mn-ea"/>
            </a:endParaRPr>
          </a:p>
          <a:p>
            <a:endParaRPr lang="zh-CN" altLang="en-US" sz="2000" b="0" i="0" dirty="0" smtClean="0">
              <a:solidFill>
                <a:schemeClr val="tx1"/>
              </a:solidFill>
              <a:latin typeface="+mn-ea"/>
              <a:cs typeface="+mn-ea"/>
            </a:endParaRPr>
          </a:p>
          <a:p>
            <a:endParaRPr lang="zh-CN" altLang="en-US" sz="2000" b="0" i="0" dirty="0" smtClean="0">
              <a:solidFill>
                <a:schemeClr val="tx1"/>
              </a:solidFill>
              <a:latin typeface="+mn-ea"/>
              <a:cs typeface="+mn-ea"/>
            </a:endParaRPr>
          </a:p>
          <a:p>
            <a:endParaRPr lang="zh-CN" altLang="en-US" sz="2000" b="0" i="0" dirty="0" smtClean="0">
              <a:solidFill>
                <a:schemeClr val="tx1"/>
              </a:solidFill>
              <a:latin typeface="+mn-ea"/>
              <a:cs typeface="+mn-ea"/>
            </a:endParaRPr>
          </a:p>
        </p:txBody>
      </p:sp>
      <p:sp>
        <p:nvSpPr>
          <p:cNvPr id="6" name="标题 5"/>
          <p:cNvSpPr>
            <a:spLocks noGrp="1"/>
          </p:cNvSpPr>
          <p:nvPr>
            <p:ph type="title"/>
          </p:nvPr>
        </p:nvSpPr>
        <p:spPr/>
        <p:txBody>
          <a:bodyPr/>
          <a:lstStyle/>
          <a:p>
            <a:r>
              <a:rPr lang="zh-CN" altLang="en-US" dirty="0" smtClean="0"/>
              <a:t>数据处理</a:t>
            </a:r>
            <a:endParaRPr lang="zh-CN" altLang="en-US" dirty="0"/>
          </a:p>
        </p:txBody>
      </p:sp>
      <p:pic>
        <p:nvPicPr>
          <p:cNvPr id="25" name="图片 3"/>
          <p:cNvPicPr>
            <a:picLocks noChangeAspect="1"/>
          </p:cNvPicPr>
          <p:nvPr/>
        </p:nvPicPr>
        <p:blipFill>
          <a:blip r:embed="rId1"/>
          <a:stretch>
            <a:fillRect/>
          </a:stretch>
        </p:blipFill>
        <p:spPr>
          <a:xfrm>
            <a:off x="1123315" y="2974340"/>
            <a:ext cx="3166745" cy="2559685"/>
          </a:xfrm>
          <a:prstGeom prst="rect">
            <a:avLst/>
          </a:prstGeom>
          <a:noFill/>
          <a:ln>
            <a:noFill/>
          </a:ln>
        </p:spPr>
      </p:pic>
      <p:pic>
        <p:nvPicPr>
          <p:cNvPr id="26" name="图片 4"/>
          <p:cNvPicPr>
            <a:picLocks noChangeAspect="1"/>
          </p:cNvPicPr>
          <p:nvPr/>
        </p:nvPicPr>
        <p:blipFill>
          <a:blip r:embed="rId2"/>
          <a:stretch>
            <a:fillRect/>
          </a:stretch>
        </p:blipFill>
        <p:spPr>
          <a:xfrm>
            <a:off x="4859020" y="2974340"/>
            <a:ext cx="3201035" cy="2553335"/>
          </a:xfrm>
          <a:prstGeom prst="rect">
            <a:avLst/>
          </a:prstGeom>
          <a:noFill/>
          <a:ln>
            <a:noFill/>
          </a:ln>
        </p:spPr>
      </p:pic>
      <p:pic>
        <p:nvPicPr>
          <p:cNvPr id="27" name="图片 9"/>
          <p:cNvPicPr>
            <a:picLocks noChangeAspect="1"/>
          </p:cNvPicPr>
          <p:nvPr/>
        </p:nvPicPr>
        <p:blipFill>
          <a:blip r:embed="rId3"/>
          <a:stretch>
            <a:fillRect/>
          </a:stretch>
        </p:blipFill>
        <p:spPr>
          <a:xfrm>
            <a:off x="1882140" y="5828665"/>
            <a:ext cx="5596255" cy="696595"/>
          </a:xfrm>
          <a:prstGeom prst="rect">
            <a:avLst/>
          </a:prstGeom>
          <a:noFill/>
          <a:ln>
            <a:noFill/>
          </a:ln>
        </p:spPr>
      </p:pic>
      <p:pic>
        <p:nvPicPr>
          <p:cNvPr id="28" name="图片 8"/>
          <p:cNvPicPr>
            <a:picLocks noChangeAspect="1"/>
          </p:cNvPicPr>
          <p:nvPr/>
        </p:nvPicPr>
        <p:blipFill>
          <a:blip r:embed="rId4"/>
          <a:srcRect r="3026" b="-9541"/>
          <a:stretch>
            <a:fillRect/>
          </a:stretch>
        </p:blipFill>
        <p:spPr>
          <a:xfrm>
            <a:off x="3447415" y="1680845"/>
            <a:ext cx="4137025" cy="741045"/>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自回归模型（</a:t>
            </a:r>
            <a:r>
              <a:rPr lang="en-US" altLang="zh-CN" dirty="0"/>
              <a:t>AR</a:t>
            </a:r>
            <a:r>
              <a:rPr lang="zh-CN" altLang="en-US" dirty="0"/>
              <a:t>）</a:t>
            </a:r>
            <a:endParaRPr lang="zh-CN" altLang="en-US" dirty="0"/>
          </a:p>
        </p:txBody>
      </p:sp>
      <p:pic>
        <p:nvPicPr>
          <p:cNvPr id="31" name="图片 1"/>
          <p:cNvPicPr>
            <a:picLocks noChangeAspect="1"/>
          </p:cNvPicPr>
          <p:nvPr/>
        </p:nvPicPr>
        <p:blipFill>
          <a:blip r:embed="rId2"/>
          <a:srcRect t="4356"/>
          <a:stretch>
            <a:fillRect/>
          </a:stretch>
        </p:blipFill>
        <p:spPr>
          <a:xfrm>
            <a:off x="129540" y="1695450"/>
            <a:ext cx="4767580" cy="2816225"/>
          </a:xfrm>
          <a:prstGeom prst="rect">
            <a:avLst/>
          </a:prstGeom>
          <a:noFill/>
          <a:ln>
            <a:noFill/>
          </a:ln>
        </p:spPr>
      </p:pic>
      <p:sp>
        <p:nvSpPr>
          <p:cNvPr id="32" name="文本框 31"/>
          <p:cNvSpPr txBox="1"/>
          <p:nvPr/>
        </p:nvSpPr>
        <p:spPr>
          <a:xfrm>
            <a:off x="1160145" y="4577715"/>
            <a:ext cx="3134360" cy="289560"/>
          </a:xfrm>
          <a:prstGeom prst="rect">
            <a:avLst/>
          </a:prstGeom>
        </p:spPr>
        <p:txBody>
          <a:bodyPr wrap="square">
            <a:noAutofit/>
          </a:bodyPr>
          <a:p>
            <a:pPr marL="0" indent="0" algn="just" defTabSz="266700">
              <a:spcBef>
                <a:spcPct val="0"/>
              </a:spcBef>
              <a:spcAft>
                <a:spcPct val="0"/>
              </a:spcAft>
            </a:pPr>
            <a:r>
              <a:rPr lang="en-US" altLang="zh-CN" sz="1600" b="1">
                <a:latin typeface="黑体" panose="02010609060101010101" charset="-122"/>
                <a:ea typeface="黑体" panose="02010609060101010101" charset="-122"/>
              </a:rPr>
              <a:t>AR</a:t>
            </a:r>
            <a:r>
              <a:rPr lang="zh-CN" altLang="en-US" sz="1600" b="1">
                <a:latin typeface="黑体" panose="02010609060101010101" charset="-122"/>
                <a:ea typeface="黑体" panose="02010609060101010101" charset="-122"/>
              </a:rPr>
              <a:t>模型拟合的上证指数时间序列</a:t>
            </a:r>
            <a:endParaRPr lang="zh-CN" altLang="en-US" sz="1600" b="1">
              <a:latin typeface="黑体" panose="02010609060101010101" charset="-122"/>
              <a:ea typeface="黑体" panose="02010609060101010101" charset="-122"/>
            </a:endParaRPr>
          </a:p>
        </p:txBody>
      </p:sp>
      <p:graphicFrame>
        <p:nvGraphicFramePr>
          <p:cNvPr id="33" name="图表 1"/>
          <p:cNvGraphicFramePr/>
          <p:nvPr/>
        </p:nvGraphicFramePr>
        <p:xfrm>
          <a:off x="5085080" y="1695450"/>
          <a:ext cx="3898265" cy="2815590"/>
        </p:xfrm>
        <a:graphic>
          <a:graphicData uri="http://schemas.openxmlformats.org/drawingml/2006/chart">
            <c:chart xmlns:c="http://schemas.openxmlformats.org/drawingml/2006/chart" xmlns:r="http://schemas.openxmlformats.org/officeDocument/2006/relationships" r:id="rId1"/>
          </a:graphicData>
        </a:graphic>
      </p:graphicFrame>
      <p:sp>
        <p:nvSpPr>
          <p:cNvPr id="2" name="文本框 1"/>
          <p:cNvSpPr txBox="1"/>
          <p:nvPr/>
        </p:nvSpPr>
        <p:spPr>
          <a:xfrm>
            <a:off x="5457825" y="4577715"/>
            <a:ext cx="3481070" cy="289560"/>
          </a:xfrm>
          <a:prstGeom prst="rect">
            <a:avLst/>
          </a:prstGeom>
        </p:spPr>
        <p:txBody>
          <a:bodyPr wrap="square">
            <a:noAutofit/>
          </a:bodyPr>
          <a:p>
            <a:pPr marL="0" indent="0" algn="just" defTabSz="266700">
              <a:spcBef>
                <a:spcPct val="0"/>
              </a:spcBef>
              <a:spcAft>
                <a:spcPct val="0"/>
              </a:spcAft>
            </a:pPr>
            <a:r>
              <a:rPr lang="en-US" altLang="zh-CN" sz="1600" b="1">
                <a:latin typeface="黑体" panose="02010609060101010101" charset="-122"/>
                <a:ea typeface="黑体" panose="02010609060101010101" charset="-122"/>
              </a:rPr>
              <a:t>ARIMA</a:t>
            </a:r>
            <a:r>
              <a:rPr lang="zh-CN" altLang="en-US" sz="1600" b="1">
                <a:latin typeface="黑体" panose="02010609060101010101" charset="-122"/>
                <a:ea typeface="黑体" panose="02010609060101010101" charset="-122"/>
              </a:rPr>
              <a:t>模型拟合的上证指数时间序列</a:t>
            </a:r>
            <a:endParaRPr lang="zh-CN" altLang="en-US" sz="1600" b="1">
              <a:latin typeface="黑体" panose="02010609060101010101" charset="-122"/>
              <a:ea typeface="黑体" panose="02010609060101010101" charset="-122"/>
            </a:endParaRPr>
          </a:p>
        </p:txBody>
      </p:sp>
      <p:sp>
        <p:nvSpPr>
          <p:cNvPr id="4" name="内容占位符 3"/>
          <p:cNvSpPr>
            <a:spLocks noGrp="1"/>
          </p:cNvSpPr>
          <p:nvPr>
            <p:ph sz="quarter" idx="10"/>
          </p:nvPr>
        </p:nvSpPr>
        <p:spPr>
          <a:xfrm>
            <a:off x="494030" y="5015865"/>
            <a:ext cx="8372475" cy="1509395"/>
          </a:xfrm>
        </p:spPr>
        <p:txBody>
          <a:bodyPr>
            <a:noAutofit/>
          </a:bodyPr>
          <a:p>
            <a:pPr marL="285750" indent="-285750" algn="just" defTabSz="266700">
              <a:lnSpc>
                <a:spcPct val="150000"/>
              </a:lnSpc>
              <a:spcBef>
                <a:spcPct val="0"/>
              </a:spcBef>
              <a:spcAft>
                <a:spcPct val="0"/>
              </a:spcAft>
              <a:buFont typeface="Arial" panose="020B0604020202020204" pitchFamily="34" charset="0"/>
              <a:buChar char="•"/>
            </a:pPr>
            <a:r>
              <a:rPr lang="zh-CN" altLang="en-US" sz="1800">
                <a:solidFill>
                  <a:schemeClr val="tx1"/>
                </a:solidFill>
                <a:latin typeface="+mn-ea"/>
                <a:cs typeface="+mn-ea"/>
                <a:sym typeface="+mn-ea"/>
              </a:rPr>
              <a:t>长期来看，</a:t>
            </a:r>
            <a:r>
              <a:rPr lang="en-US" altLang="zh-CN" sz="1800">
                <a:solidFill>
                  <a:schemeClr val="tx1"/>
                </a:solidFill>
                <a:latin typeface="+mn-ea"/>
                <a:cs typeface="+mn-ea"/>
                <a:sym typeface="+mn-ea"/>
              </a:rPr>
              <a:t>AR</a:t>
            </a:r>
            <a:r>
              <a:rPr lang="zh-CN" altLang="en-US" sz="1800">
                <a:solidFill>
                  <a:schemeClr val="tx1"/>
                </a:solidFill>
                <a:latin typeface="+mn-ea"/>
                <a:cs typeface="+mn-ea"/>
                <a:sym typeface="+mn-ea"/>
              </a:rPr>
              <a:t>模型的拟合效果很好</a:t>
            </a:r>
            <a:endParaRPr lang="zh-CN" altLang="en-US" sz="1800">
              <a:solidFill>
                <a:schemeClr val="tx1"/>
              </a:solidFill>
              <a:latin typeface="+mn-ea"/>
              <a:cs typeface="+mn-ea"/>
            </a:endParaRPr>
          </a:p>
          <a:p>
            <a:pPr marL="285750" indent="-285750" algn="just" defTabSz="266700">
              <a:lnSpc>
                <a:spcPct val="150000"/>
              </a:lnSpc>
              <a:spcBef>
                <a:spcPct val="0"/>
              </a:spcBef>
              <a:spcAft>
                <a:spcPct val="0"/>
              </a:spcAft>
              <a:buFont typeface="Arial" panose="020B0604020202020204" pitchFamily="34" charset="0"/>
              <a:buChar char="•"/>
            </a:pPr>
            <a:r>
              <a:rPr lang="zh-CN" altLang="en-US" sz="1800">
                <a:solidFill>
                  <a:schemeClr val="tx1"/>
                </a:solidFill>
                <a:latin typeface="+mn-ea"/>
                <a:cs typeface="+mn-ea"/>
                <a:sym typeface="+mn-ea"/>
              </a:rPr>
              <a:t>但</a:t>
            </a:r>
            <a:r>
              <a:rPr lang="en-US" altLang="zh-CN" sz="1800">
                <a:solidFill>
                  <a:schemeClr val="tx1"/>
                </a:solidFill>
                <a:latin typeface="+mn-ea"/>
                <a:cs typeface="+mn-ea"/>
                <a:sym typeface="+mn-ea"/>
              </a:rPr>
              <a:t>AR</a:t>
            </a:r>
            <a:r>
              <a:rPr lang="zh-CN" altLang="en-US" sz="1800">
                <a:solidFill>
                  <a:schemeClr val="tx1"/>
                </a:solidFill>
                <a:latin typeface="+mn-ea"/>
                <a:cs typeface="+mn-ea"/>
                <a:sym typeface="+mn-ea"/>
              </a:rPr>
              <a:t>模型无法简单的通过当天的收盘价预测第二天的走势。</a:t>
            </a:r>
            <a:endParaRPr lang="zh-CN" altLang="en-US" sz="1800">
              <a:solidFill>
                <a:schemeClr val="tx1"/>
              </a:solidFill>
              <a:latin typeface="+mn-ea"/>
              <a:cs typeface="+mn-ea"/>
            </a:endParaRPr>
          </a:p>
          <a:p>
            <a:pPr marL="285750" indent="-285750" algn="just" defTabSz="266700">
              <a:lnSpc>
                <a:spcPct val="150000"/>
              </a:lnSpc>
              <a:spcBef>
                <a:spcPct val="0"/>
              </a:spcBef>
              <a:spcAft>
                <a:spcPct val="0"/>
              </a:spcAft>
              <a:buFont typeface="Arial" panose="020B0604020202020204" pitchFamily="34" charset="0"/>
              <a:buChar char="•"/>
            </a:pPr>
            <a:r>
              <a:rPr lang="zh-CN" altLang="en-US" sz="1800">
                <a:solidFill>
                  <a:schemeClr val="tx1"/>
                </a:solidFill>
                <a:latin typeface="+mn-ea"/>
                <a:cs typeface="+mn-ea"/>
                <a:sym typeface="+mn-ea"/>
              </a:rPr>
              <a:t>此外，面对短期预测，</a:t>
            </a:r>
            <a:r>
              <a:rPr lang="en-US" altLang="zh-CN" sz="1800">
                <a:solidFill>
                  <a:schemeClr val="tx1"/>
                </a:solidFill>
                <a:latin typeface="+mn-ea"/>
                <a:cs typeface="+mn-ea"/>
                <a:sym typeface="+mn-ea"/>
              </a:rPr>
              <a:t>ARIMA</a:t>
            </a:r>
            <a:r>
              <a:rPr lang="zh-CN" altLang="en-US" sz="1800">
                <a:solidFill>
                  <a:schemeClr val="tx1"/>
                </a:solidFill>
                <a:latin typeface="+mn-ea"/>
                <a:cs typeface="+mn-ea"/>
                <a:sym typeface="+mn-ea"/>
              </a:rPr>
              <a:t>模型会出现过拟合的问题</a:t>
            </a:r>
            <a:endParaRPr lang="zh-CN" altLang="en-US" sz="1800" dirty="0">
              <a:solidFill>
                <a:schemeClr val="tx1"/>
              </a:solidFill>
              <a:latin typeface="+mn-ea"/>
              <a:cs typeface="+mn-ea"/>
            </a:endParaRPr>
          </a:p>
          <a:p>
            <a:pPr algn="just">
              <a:lnSpc>
                <a:spcPct val="150000"/>
              </a:lnSpc>
            </a:pPr>
            <a:endParaRPr lang="zh-CN" altLang="en-US" sz="1800" i="0" dirty="0" smtClean="0">
              <a:solidFill>
                <a:schemeClr val="tx1"/>
              </a:solidFill>
              <a:latin typeface="+mn-ea"/>
              <a:cs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线性回归</a:t>
            </a:r>
            <a:endParaRPr lang="zh-CN" altLang="en-US" dirty="0"/>
          </a:p>
        </p:txBody>
      </p:sp>
      <p:sp>
        <p:nvSpPr>
          <p:cNvPr id="54" name="内容占位符 53"/>
          <p:cNvSpPr>
            <a:spLocks noGrp="1"/>
          </p:cNvSpPr>
          <p:nvPr>
            <p:ph sz="quarter" idx="10"/>
          </p:nvPr>
        </p:nvSpPr>
        <p:spPr>
          <a:xfrm>
            <a:off x="494030" y="1774825"/>
            <a:ext cx="8372475" cy="4750435"/>
          </a:xfrm>
        </p:spPr>
        <p:txBody>
          <a:bodyPr>
            <a:noAutofit/>
          </a:bodyPr>
          <a:p>
            <a:pPr algn="just">
              <a:lnSpc>
                <a:spcPct val="150000"/>
              </a:lnSpc>
              <a:buSzTx/>
            </a:pPr>
            <a:r>
              <a:rPr lang="zh-CN" altLang="en-US" sz="2000" dirty="0" smtClean="0">
                <a:latin typeface="+mn-ea"/>
                <a:cs typeface="+mn-ea"/>
                <a:sym typeface="+mn-ea"/>
              </a:rPr>
              <a:t>最基本的回归模型</a:t>
            </a:r>
            <a:endParaRPr lang="zh-CN" altLang="en-US" sz="2000" dirty="0" smtClean="0">
              <a:latin typeface="+mn-ea"/>
              <a:cs typeface="+mn-ea"/>
              <a:sym typeface="+mn-ea"/>
            </a:endParaRPr>
          </a:p>
          <a:p>
            <a:pPr algn="just">
              <a:lnSpc>
                <a:spcPct val="150000"/>
              </a:lnSpc>
              <a:buSzTx/>
            </a:pPr>
            <a:r>
              <a:rPr lang="zh-CN" altLang="en-US" sz="2000" dirty="0" smtClean="0">
                <a:latin typeface="+mn-ea"/>
                <a:cs typeface="+mn-ea"/>
                <a:sym typeface="+mn-ea"/>
              </a:rPr>
              <a:t>假设自变量和因变量之间存在线性关系</a:t>
            </a:r>
            <a:endParaRPr lang="zh-CN" altLang="en-US" sz="2000" dirty="0" smtClean="0">
              <a:latin typeface="+mn-ea"/>
              <a:cs typeface="+mn-ea"/>
              <a:sym typeface="+mn-ea"/>
            </a:endParaRPr>
          </a:p>
          <a:p>
            <a:pPr algn="just">
              <a:lnSpc>
                <a:spcPct val="150000"/>
              </a:lnSpc>
              <a:buSzTx/>
            </a:pPr>
            <a:r>
              <a:rPr lang="zh-CN" altLang="en-US" sz="2000" dirty="0" smtClean="0">
                <a:latin typeface="+mn-ea"/>
                <a:cs typeface="+mn-ea"/>
                <a:sym typeface="+mn-ea"/>
              </a:rPr>
              <a:t>简单、易于解释，是评估其他复杂模型性能的基准。</a:t>
            </a:r>
            <a:endParaRPr lang="zh-CN" altLang="en-US" sz="2000" b="0" i="0" dirty="0" smtClean="0">
              <a:solidFill>
                <a:schemeClr val="tx1"/>
              </a:solidFill>
              <a:latin typeface="+mn-ea"/>
              <a:cs typeface="+mn-ea"/>
            </a:endParaRPr>
          </a:p>
          <a:p>
            <a:endParaRPr lang="zh-CN" altLang="en-US" sz="2000" b="0" i="0" dirty="0" smtClean="0">
              <a:solidFill>
                <a:schemeClr val="tx1"/>
              </a:solidFill>
              <a:latin typeface="+mn-ea"/>
              <a:cs typeface="+mn-ea"/>
            </a:endParaRPr>
          </a:p>
          <a:p>
            <a:endParaRPr lang="zh-CN" altLang="en-US" sz="2000" b="0" i="0" dirty="0" smtClean="0">
              <a:solidFill>
                <a:schemeClr val="tx1"/>
              </a:solidFill>
              <a:latin typeface="+mn-ea"/>
              <a:cs typeface="+mn-ea"/>
            </a:endParaRPr>
          </a:p>
          <a:p>
            <a:endParaRPr lang="zh-CN" altLang="en-US" sz="2000" b="0" i="0" dirty="0" smtClean="0">
              <a:solidFill>
                <a:schemeClr val="tx1"/>
              </a:solidFill>
              <a:latin typeface="+mn-ea"/>
              <a:cs typeface="+mn-ea"/>
            </a:endParaRPr>
          </a:p>
          <a:p>
            <a:endParaRPr lang="zh-CN" altLang="en-US" sz="2000" b="0" i="0" dirty="0" smtClean="0">
              <a:solidFill>
                <a:schemeClr val="tx1"/>
              </a:solidFill>
              <a:latin typeface="+mn-ea"/>
              <a:cs typeface="+mn-ea"/>
            </a:endParaRPr>
          </a:p>
        </p:txBody>
      </p:sp>
      <p:pic>
        <p:nvPicPr>
          <p:cNvPr id="10" name="图片 10"/>
          <p:cNvPicPr>
            <a:picLocks noChangeAspect="1"/>
          </p:cNvPicPr>
          <p:nvPr/>
        </p:nvPicPr>
        <p:blipFill>
          <a:blip r:embed="rId1"/>
          <a:stretch>
            <a:fillRect/>
          </a:stretch>
        </p:blipFill>
        <p:spPr>
          <a:xfrm>
            <a:off x="494030" y="3847465"/>
            <a:ext cx="8024495" cy="1657985"/>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Lasso</a:t>
            </a:r>
            <a:r>
              <a:rPr lang="zh-CN" altLang="en-US" dirty="0"/>
              <a:t>回归</a:t>
            </a:r>
            <a:endParaRPr lang="zh-CN" altLang="en-US" dirty="0"/>
          </a:p>
        </p:txBody>
      </p:sp>
      <p:sp>
        <p:nvSpPr>
          <p:cNvPr id="54" name="内容占位符 53"/>
          <p:cNvSpPr>
            <a:spLocks noGrp="1"/>
          </p:cNvSpPr>
          <p:nvPr>
            <p:ph sz="quarter" idx="10"/>
          </p:nvPr>
        </p:nvSpPr>
        <p:spPr>
          <a:xfrm>
            <a:off x="494030" y="1774825"/>
            <a:ext cx="8372475" cy="4750435"/>
          </a:xfrm>
        </p:spPr>
        <p:txBody>
          <a:bodyPr>
            <a:noAutofit/>
          </a:bodyPr>
          <a:p>
            <a:pPr algn="just">
              <a:lnSpc>
                <a:spcPct val="150000"/>
              </a:lnSpc>
              <a:buSzTx/>
            </a:pPr>
            <a:r>
              <a:rPr lang="zh-CN" altLang="en-US" sz="2000" b="0" i="0" dirty="0" smtClean="0">
                <a:solidFill>
                  <a:schemeClr val="tx1"/>
                </a:solidFill>
                <a:latin typeface="+mn-ea"/>
                <a:cs typeface="+mn-ea"/>
              </a:rPr>
              <a:t>引入</a:t>
            </a:r>
            <a:r>
              <a:rPr lang="en-US" altLang="zh-CN" sz="2000" b="0" i="0" dirty="0" smtClean="0">
                <a:solidFill>
                  <a:schemeClr val="tx1"/>
                </a:solidFill>
                <a:latin typeface="+mn-ea"/>
                <a:cs typeface="+mn-ea"/>
              </a:rPr>
              <a:t>L1</a:t>
            </a:r>
            <a:r>
              <a:rPr lang="zh-CN" altLang="en-US" sz="2000" b="0" i="0" dirty="0" smtClean="0">
                <a:solidFill>
                  <a:schemeClr val="tx1"/>
                </a:solidFill>
                <a:latin typeface="+mn-ea"/>
                <a:cs typeface="+mn-ea"/>
              </a:rPr>
              <a:t>正则化项来减少模型复杂度，</a:t>
            </a:r>
            <a:r>
              <a:rPr lang="zh-CN" altLang="en-US" sz="2000" dirty="0" smtClean="0">
                <a:latin typeface="+mn-ea"/>
                <a:cs typeface="+mn-ea"/>
                <a:sym typeface="+mn-ea"/>
              </a:rPr>
              <a:t>有助于处理多重共线性。</a:t>
            </a:r>
            <a:endParaRPr lang="zh-CN" altLang="en-US" sz="2000" b="0" i="0" dirty="0" smtClean="0">
              <a:solidFill>
                <a:schemeClr val="tx1"/>
              </a:solidFill>
              <a:latin typeface="+mn-ea"/>
              <a:cs typeface="+mn-ea"/>
            </a:endParaRPr>
          </a:p>
          <a:p>
            <a:pPr algn="just">
              <a:lnSpc>
                <a:spcPct val="150000"/>
              </a:lnSpc>
              <a:buSzTx/>
            </a:pPr>
            <a:r>
              <a:rPr lang="zh-CN" altLang="en-US" sz="2000" b="0" i="0" dirty="0" smtClean="0">
                <a:solidFill>
                  <a:schemeClr val="tx1"/>
                </a:solidFill>
                <a:latin typeface="+mn-ea"/>
                <a:cs typeface="+mn-ea"/>
              </a:rPr>
              <a:t>倾向于将不重要的特征的系数压缩至零，从而实现自动特征选择</a:t>
            </a:r>
            <a:endParaRPr lang="zh-CN" altLang="en-US" sz="2000" b="0" i="0" dirty="0" smtClean="0">
              <a:solidFill>
                <a:schemeClr val="tx1"/>
              </a:solidFill>
              <a:latin typeface="+mn-ea"/>
              <a:cs typeface="+mn-ea"/>
            </a:endParaRPr>
          </a:p>
          <a:p>
            <a:pPr algn="just">
              <a:lnSpc>
                <a:spcPct val="150000"/>
              </a:lnSpc>
              <a:buSzTx/>
            </a:pPr>
            <a:r>
              <a:rPr lang="zh-CN" altLang="en-US" sz="2000" b="0" i="0" dirty="0" smtClean="0">
                <a:solidFill>
                  <a:schemeClr val="tx1"/>
                </a:solidFill>
                <a:latin typeface="+mn-ea"/>
                <a:cs typeface="+mn-ea"/>
              </a:rPr>
              <a:t>此回归方法特别适用于特征数量多于样本数量的情况，因为它可以减少模型的复杂性，防止过拟合。</a:t>
            </a:r>
            <a:endParaRPr lang="zh-CN" altLang="en-US" sz="2000" b="0" i="0" dirty="0" smtClean="0">
              <a:solidFill>
                <a:schemeClr val="tx1"/>
              </a:solidFill>
              <a:latin typeface="+mn-ea"/>
              <a:cs typeface="+mn-ea"/>
            </a:endParaRPr>
          </a:p>
          <a:p>
            <a:endParaRPr lang="zh-CN" altLang="en-US" sz="2000" b="0" i="0" dirty="0" smtClean="0">
              <a:solidFill>
                <a:schemeClr val="tx1"/>
              </a:solidFill>
              <a:latin typeface="+mn-ea"/>
              <a:cs typeface="+mn-ea"/>
            </a:endParaRPr>
          </a:p>
          <a:p>
            <a:endParaRPr lang="zh-CN" altLang="en-US" sz="2000" b="0" i="0" dirty="0" smtClean="0">
              <a:solidFill>
                <a:schemeClr val="tx1"/>
              </a:solidFill>
              <a:latin typeface="+mn-ea"/>
              <a:cs typeface="+mn-ea"/>
            </a:endParaRPr>
          </a:p>
          <a:p>
            <a:endParaRPr lang="zh-CN" altLang="en-US" sz="2000" b="0" i="0" dirty="0" smtClean="0">
              <a:solidFill>
                <a:schemeClr val="tx1"/>
              </a:solidFill>
              <a:latin typeface="+mn-ea"/>
              <a:cs typeface="+mn-ea"/>
            </a:endParaRPr>
          </a:p>
        </p:txBody>
      </p:sp>
      <p:pic>
        <p:nvPicPr>
          <p:cNvPr id="11" name="图片 11"/>
          <p:cNvPicPr>
            <a:picLocks noChangeAspect="1"/>
          </p:cNvPicPr>
          <p:nvPr/>
        </p:nvPicPr>
        <p:blipFill>
          <a:blip r:embed="rId1"/>
          <a:stretch>
            <a:fillRect/>
          </a:stretch>
        </p:blipFill>
        <p:spPr>
          <a:xfrm>
            <a:off x="769620" y="4162425"/>
            <a:ext cx="5584825" cy="1529715"/>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Ridge</a:t>
            </a:r>
            <a:r>
              <a:rPr lang="zh-CN" altLang="en-US" dirty="0"/>
              <a:t>回归</a:t>
            </a:r>
            <a:endParaRPr lang="zh-CN" altLang="en-US" dirty="0"/>
          </a:p>
        </p:txBody>
      </p:sp>
      <p:sp>
        <p:nvSpPr>
          <p:cNvPr id="54" name="内容占位符 53"/>
          <p:cNvSpPr>
            <a:spLocks noGrp="1"/>
          </p:cNvSpPr>
          <p:nvPr>
            <p:ph sz="quarter" idx="10"/>
          </p:nvPr>
        </p:nvSpPr>
        <p:spPr>
          <a:xfrm>
            <a:off x="494030" y="1774825"/>
            <a:ext cx="8372475" cy="4750435"/>
          </a:xfrm>
        </p:spPr>
        <p:txBody>
          <a:bodyPr>
            <a:noAutofit/>
          </a:bodyPr>
          <a:p>
            <a:pPr algn="just">
              <a:lnSpc>
                <a:spcPct val="150000"/>
              </a:lnSpc>
              <a:buSzTx/>
            </a:pPr>
            <a:r>
              <a:rPr lang="zh-CN" altLang="en-US" sz="2000" b="0" i="0" dirty="0" smtClean="0">
                <a:solidFill>
                  <a:schemeClr val="tx1"/>
                </a:solidFill>
                <a:latin typeface="+mn-ea"/>
                <a:cs typeface="+mn-ea"/>
              </a:rPr>
              <a:t>引入</a:t>
            </a:r>
            <a:r>
              <a:rPr lang="en-US" altLang="zh-CN" sz="2000" b="0" i="0" dirty="0" smtClean="0">
                <a:solidFill>
                  <a:schemeClr val="tx1"/>
                </a:solidFill>
                <a:latin typeface="+mn-ea"/>
                <a:cs typeface="+mn-ea"/>
              </a:rPr>
              <a:t>L2</a:t>
            </a:r>
            <a:r>
              <a:rPr lang="zh-CN" altLang="en-US" sz="2000" b="0" i="0" dirty="0" smtClean="0">
                <a:solidFill>
                  <a:schemeClr val="tx1"/>
                </a:solidFill>
                <a:latin typeface="+mn-ea"/>
                <a:cs typeface="+mn-ea"/>
              </a:rPr>
              <a:t>正则化项来减少模型复杂度，有助于处理多重共线性。</a:t>
            </a:r>
            <a:endParaRPr lang="zh-CN" altLang="en-US" sz="2000" b="0" i="0" dirty="0" smtClean="0">
              <a:solidFill>
                <a:schemeClr val="tx1"/>
              </a:solidFill>
              <a:latin typeface="+mn-ea"/>
              <a:cs typeface="+mn-ea"/>
            </a:endParaRPr>
          </a:p>
          <a:p>
            <a:pPr algn="just">
              <a:lnSpc>
                <a:spcPct val="150000"/>
              </a:lnSpc>
              <a:buSzTx/>
            </a:pPr>
            <a:r>
              <a:rPr lang="en-US" altLang="zh-CN" sz="2000" b="0" i="0" dirty="0" smtClean="0">
                <a:solidFill>
                  <a:schemeClr val="tx1"/>
                </a:solidFill>
                <a:latin typeface="+mn-ea"/>
                <a:cs typeface="+mn-ea"/>
              </a:rPr>
              <a:t>L2</a:t>
            </a:r>
            <a:r>
              <a:rPr lang="zh-CN" altLang="en-US" sz="2000" b="0" i="0" dirty="0" smtClean="0">
                <a:solidFill>
                  <a:schemeClr val="tx1"/>
                </a:solidFill>
                <a:latin typeface="+mn-ea"/>
                <a:cs typeface="+mn-ea"/>
              </a:rPr>
              <a:t>正则化倾向于将所有系数缩小，但不会将它们精确地设置为零。</a:t>
            </a:r>
            <a:endParaRPr lang="zh-CN" altLang="en-US" sz="2000" b="0" i="0" dirty="0" smtClean="0">
              <a:solidFill>
                <a:schemeClr val="tx1"/>
              </a:solidFill>
              <a:latin typeface="+mn-ea"/>
              <a:cs typeface="+mn-ea"/>
            </a:endParaRPr>
          </a:p>
          <a:p>
            <a:pPr algn="just">
              <a:lnSpc>
                <a:spcPct val="150000"/>
              </a:lnSpc>
              <a:buSzTx/>
            </a:pPr>
            <a:r>
              <a:rPr lang="zh-CN" altLang="en-US" sz="2000" b="0" i="0" dirty="0" smtClean="0">
                <a:solidFill>
                  <a:schemeClr val="tx1"/>
                </a:solidFill>
                <a:latin typeface="+mn-ea"/>
                <a:cs typeface="+mn-ea"/>
              </a:rPr>
              <a:t>如果模型目标是进行特征选择，</a:t>
            </a:r>
            <a:r>
              <a:rPr lang="en-US" altLang="zh-CN" sz="2000" b="0" i="0" dirty="0" smtClean="0">
                <a:solidFill>
                  <a:schemeClr val="tx1"/>
                </a:solidFill>
                <a:latin typeface="+mn-ea"/>
                <a:cs typeface="+mn-ea"/>
              </a:rPr>
              <a:t>Lasso</a:t>
            </a:r>
            <a:r>
              <a:rPr lang="zh-CN" altLang="en-US" sz="2000" b="0" i="0" dirty="0" smtClean="0">
                <a:solidFill>
                  <a:schemeClr val="tx1"/>
                </a:solidFill>
                <a:latin typeface="+mn-ea"/>
                <a:cs typeface="+mn-ea"/>
              </a:rPr>
              <a:t>回归可能更合适；</a:t>
            </a:r>
            <a:endParaRPr lang="zh-CN" altLang="en-US" sz="2000" b="0" i="0" dirty="0" smtClean="0">
              <a:solidFill>
                <a:schemeClr val="tx1"/>
              </a:solidFill>
              <a:latin typeface="+mn-ea"/>
              <a:cs typeface="+mn-ea"/>
            </a:endParaRPr>
          </a:p>
          <a:p>
            <a:pPr algn="just">
              <a:lnSpc>
                <a:spcPct val="150000"/>
              </a:lnSpc>
              <a:buSzTx/>
            </a:pPr>
            <a:r>
              <a:rPr lang="zh-CN" altLang="en-US" sz="2000" b="0" i="0" dirty="0" smtClean="0">
                <a:solidFill>
                  <a:schemeClr val="tx1"/>
                </a:solidFill>
                <a:latin typeface="+mn-ea"/>
                <a:cs typeface="+mn-ea"/>
              </a:rPr>
              <a:t>如果目标是保持模型的可解释性，</a:t>
            </a:r>
            <a:r>
              <a:rPr lang="en-US" altLang="zh-CN" sz="2000" b="0" i="0" dirty="0" smtClean="0">
                <a:solidFill>
                  <a:schemeClr val="tx1"/>
                </a:solidFill>
                <a:latin typeface="+mn-ea"/>
                <a:cs typeface="+mn-ea"/>
              </a:rPr>
              <a:t>Ridge</a:t>
            </a:r>
            <a:r>
              <a:rPr lang="zh-CN" altLang="en-US" sz="2000" b="0" i="0" dirty="0" smtClean="0">
                <a:solidFill>
                  <a:schemeClr val="tx1"/>
                </a:solidFill>
                <a:latin typeface="+mn-ea"/>
                <a:cs typeface="+mn-ea"/>
              </a:rPr>
              <a:t>回归可能更优。</a:t>
            </a:r>
            <a:endParaRPr lang="zh-CN" altLang="en-US" sz="2000" b="0" i="0" dirty="0" smtClean="0">
              <a:solidFill>
                <a:schemeClr val="tx1"/>
              </a:solidFill>
              <a:latin typeface="+mn-ea"/>
              <a:cs typeface="+mn-ea"/>
            </a:endParaRPr>
          </a:p>
        </p:txBody>
      </p:sp>
      <p:pic>
        <p:nvPicPr>
          <p:cNvPr id="12" name="图片 12"/>
          <p:cNvPicPr>
            <a:picLocks noChangeAspect="1"/>
          </p:cNvPicPr>
          <p:nvPr/>
        </p:nvPicPr>
        <p:blipFill>
          <a:blip r:embed="rId1"/>
          <a:srcRect b="7239"/>
          <a:stretch>
            <a:fillRect/>
          </a:stretch>
        </p:blipFill>
        <p:spPr>
          <a:xfrm>
            <a:off x="681355" y="4220210"/>
            <a:ext cx="5591810" cy="1562100"/>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多项式回归</a:t>
            </a:r>
            <a:endParaRPr lang="zh-CN" altLang="en-US" dirty="0"/>
          </a:p>
        </p:txBody>
      </p:sp>
      <p:sp>
        <p:nvSpPr>
          <p:cNvPr id="54" name="内容占位符 53"/>
          <p:cNvSpPr>
            <a:spLocks noGrp="1"/>
          </p:cNvSpPr>
          <p:nvPr>
            <p:ph sz="quarter" idx="10"/>
          </p:nvPr>
        </p:nvSpPr>
        <p:spPr>
          <a:xfrm>
            <a:off x="494030" y="1774825"/>
            <a:ext cx="8372475" cy="4750435"/>
          </a:xfrm>
        </p:spPr>
        <p:txBody>
          <a:bodyPr>
            <a:noAutofit/>
          </a:bodyPr>
          <a:p>
            <a:pPr algn="just">
              <a:lnSpc>
                <a:spcPct val="150000"/>
              </a:lnSpc>
              <a:buSzTx/>
            </a:pPr>
            <a:r>
              <a:rPr lang="zh-CN" altLang="en-US" sz="2000" b="0" i="0" dirty="0" smtClean="0">
                <a:solidFill>
                  <a:schemeClr val="tx1"/>
                </a:solidFill>
                <a:latin typeface="+mn-ea"/>
                <a:cs typeface="+mn-ea"/>
              </a:rPr>
              <a:t>多项式回归通过增加自变量的高次项来捕捉数据的非线性关系。</a:t>
            </a:r>
            <a:endParaRPr lang="zh-CN" altLang="en-US" sz="2000" b="0" i="0" dirty="0" smtClean="0">
              <a:solidFill>
                <a:schemeClr val="tx1"/>
              </a:solidFill>
              <a:latin typeface="+mn-ea"/>
              <a:cs typeface="+mn-ea"/>
            </a:endParaRPr>
          </a:p>
          <a:p>
            <a:pPr algn="just">
              <a:lnSpc>
                <a:spcPct val="150000"/>
              </a:lnSpc>
              <a:buSzTx/>
            </a:pPr>
            <a:r>
              <a:rPr lang="zh-CN" altLang="en-US" sz="2000" b="0" i="0" dirty="0" smtClean="0">
                <a:solidFill>
                  <a:schemeClr val="tx1"/>
                </a:solidFill>
                <a:latin typeface="+mn-ea"/>
                <a:cs typeface="+mn-ea"/>
              </a:rPr>
              <a:t>这种模型可以提供更灵活的拟合，但也需要更多的数据来避免过拟合。</a:t>
            </a:r>
            <a:endParaRPr lang="zh-CN" altLang="en-US" sz="2000" b="0" i="0" dirty="0" smtClean="0">
              <a:solidFill>
                <a:schemeClr val="tx1"/>
              </a:solidFill>
              <a:latin typeface="+mn-ea"/>
              <a:cs typeface="+mn-ea"/>
            </a:endParaRPr>
          </a:p>
          <a:p>
            <a:pPr algn="just">
              <a:lnSpc>
                <a:spcPct val="150000"/>
              </a:lnSpc>
              <a:buSzTx/>
            </a:pPr>
            <a:r>
              <a:rPr lang="zh-CN" altLang="en-US" sz="2000" b="0" i="0" dirty="0" smtClean="0">
                <a:solidFill>
                  <a:schemeClr val="tx1"/>
                </a:solidFill>
                <a:latin typeface="+mn-ea"/>
                <a:cs typeface="+mn-ea"/>
              </a:rPr>
              <a:t>但多项式回归的度数需要根据数据的非线性程度和过拟合的风险来选择</a:t>
            </a:r>
            <a:endParaRPr lang="zh-CN" altLang="en-US" sz="2000" b="0" i="0" dirty="0" smtClean="0">
              <a:solidFill>
                <a:schemeClr val="tx1"/>
              </a:solidFill>
              <a:latin typeface="+mn-ea"/>
              <a:cs typeface="+mn-ea"/>
            </a:endParaRPr>
          </a:p>
        </p:txBody>
      </p:sp>
      <p:pic>
        <p:nvPicPr>
          <p:cNvPr id="13" name="图片 13"/>
          <p:cNvPicPr>
            <a:picLocks noChangeAspect="1"/>
          </p:cNvPicPr>
          <p:nvPr/>
        </p:nvPicPr>
        <p:blipFill>
          <a:blip r:embed="rId1"/>
          <a:stretch>
            <a:fillRect/>
          </a:stretch>
        </p:blipFill>
        <p:spPr>
          <a:xfrm>
            <a:off x="644525" y="3651250"/>
            <a:ext cx="8151495" cy="1979295"/>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回归样条和光滑样条</a:t>
            </a:r>
            <a:endParaRPr lang="zh-CN" altLang="en-US" dirty="0"/>
          </a:p>
        </p:txBody>
      </p:sp>
      <p:sp>
        <p:nvSpPr>
          <p:cNvPr id="54" name="内容占位符 53"/>
          <p:cNvSpPr>
            <a:spLocks noGrp="1"/>
          </p:cNvSpPr>
          <p:nvPr>
            <p:ph sz="quarter" idx="10"/>
          </p:nvPr>
        </p:nvSpPr>
        <p:spPr>
          <a:xfrm>
            <a:off x="494030" y="1774825"/>
            <a:ext cx="8372475" cy="4750435"/>
          </a:xfrm>
        </p:spPr>
        <p:txBody>
          <a:bodyPr>
            <a:noAutofit/>
          </a:bodyPr>
          <a:p>
            <a:pPr algn="just">
              <a:lnSpc>
                <a:spcPct val="150000"/>
              </a:lnSpc>
              <a:buSzTx/>
            </a:pPr>
            <a:r>
              <a:rPr lang="zh-CN" altLang="en-US" sz="2000" b="0" i="0" dirty="0" smtClean="0">
                <a:solidFill>
                  <a:schemeClr val="tx1"/>
                </a:solidFill>
                <a:latin typeface="+mn-ea"/>
                <a:cs typeface="+mn-ea"/>
              </a:rPr>
              <a:t>回归样条使用分段多项式函数来拟合数据，可以更灵活地捕捉数据的非线性特征。样条函数在每个区间内是多项式，而在区间交界处是连续的。回归样条适用于捕捉复杂非线性关系的数据，但需要仔细选择节点的数量和位置。</a:t>
            </a:r>
            <a:endParaRPr lang="zh-CN" altLang="en-US" sz="2000" b="0" i="0" dirty="0" smtClean="0">
              <a:solidFill>
                <a:schemeClr val="tx1"/>
              </a:solidFill>
              <a:latin typeface="+mn-ea"/>
              <a:cs typeface="+mn-ea"/>
            </a:endParaRPr>
          </a:p>
          <a:p>
            <a:pPr algn="just">
              <a:lnSpc>
                <a:spcPct val="150000"/>
              </a:lnSpc>
              <a:buSzTx/>
            </a:pPr>
            <a:r>
              <a:rPr lang="zh-CN" altLang="en-US" sz="2000" b="0" i="0" dirty="0" smtClean="0">
                <a:solidFill>
                  <a:schemeClr val="tx1"/>
                </a:solidFill>
                <a:latin typeface="+mn-ea"/>
                <a:cs typeface="+mn-ea"/>
              </a:rPr>
              <a:t>光滑样条在回归样条的基础上，通过惩罚项来控制曲线的光滑度。这种模型可以在保持一定光滑度的同时，灵活地拟合数据。光滑样条适用于需要平衡拟合度和光滑度的场景。</a:t>
            </a:r>
            <a:endParaRPr lang="zh-CN" altLang="en-US" sz="2000" b="0" i="0" dirty="0" smtClean="0">
              <a:solidFill>
                <a:schemeClr val="tx1"/>
              </a:solidFill>
              <a:latin typeface="+mn-ea"/>
              <a:cs typeface="+mn-ea"/>
            </a:endParaRPr>
          </a:p>
        </p:txBody>
      </p:sp>
      <p:pic>
        <p:nvPicPr>
          <p:cNvPr id="14" name="图片 14"/>
          <p:cNvPicPr>
            <a:picLocks noChangeAspect="1"/>
          </p:cNvPicPr>
          <p:nvPr/>
        </p:nvPicPr>
        <p:blipFill>
          <a:blip r:embed="rId1"/>
          <a:stretch>
            <a:fillRect/>
          </a:stretch>
        </p:blipFill>
        <p:spPr>
          <a:xfrm>
            <a:off x="704215" y="5220970"/>
            <a:ext cx="7952740" cy="1394460"/>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模型评估</a:t>
            </a:r>
            <a:endParaRPr lang="zh-CN" altLang="en-US" dirty="0"/>
          </a:p>
        </p:txBody>
      </p:sp>
      <p:graphicFrame>
        <p:nvGraphicFramePr>
          <p:cNvPr id="4" name="表格 3"/>
          <p:cNvGraphicFramePr/>
          <p:nvPr/>
        </p:nvGraphicFramePr>
        <p:xfrm>
          <a:off x="577215" y="1760220"/>
          <a:ext cx="5161915" cy="1188000"/>
        </p:xfrm>
        <a:graphic>
          <a:graphicData uri="http://schemas.openxmlformats.org/drawingml/2006/table">
            <a:tbl>
              <a:tblPr/>
              <a:tblGrid>
                <a:gridCol w="1035050"/>
                <a:gridCol w="1310005"/>
                <a:gridCol w="1409065"/>
                <a:gridCol w="1407795"/>
              </a:tblGrid>
              <a:tr h="360000">
                <a:tc>
                  <a:txBody>
                    <a:bodyPr/>
                    <a:p>
                      <a:pPr marL="0" indent="0" algn="ctr">
                        <a:spcBef>
                          <a:spcPct val="0"/>
                        </a:spcBef>
                        <a:spcAft>
                          <a:spcPct val="0"/>
                        </a:spcAft>
                      </a:pPr>
                      <a:r>
                        <a:rPr lang="en-US" altLang="zh-CN" sz="1600">
                          <a:solidFill>
                            <a:srgbClr val="000000"/>
                          </a:solidFill>
                          <a:latin typeface="Calibri" panose="020F0502020204030204"/>
                          <a:ea typeface="宋体" panose="02010600030101010101" pitchFamily="2" charset="-122"/>
                        </a:rPr>
                        <a:t> </a:t>
                      </a:r>
                      <a:endParaRPr lang="en-US" altLang="zh-CN" sz="1600">
                        <a:solidFill>
                          <a:srgbClr val="000000"/>
                        </a:solidFill>
                        <a:latin typeface="Calibri" panose="020F05020202040302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Linear</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Lasso</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Ridge</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360000">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MSE</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3907.9467</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3906.7945</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3908.1172</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r>
              <a:tr h="360000">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R</a:t>
                      </a:r>
                      <a:r>
                        <a:rPr lang="en-US" altLang="zh-CN" sz="1600">
                          <a:solidFill>
                            <a:srgbClr val="000000"/>
                          </a:solidFill>
                          <a:latin typeface="Calibri" panose="020F0502020204030204"/>
                          <a:ea typeface="宋体" panose="02010600030101010101" pitchFamily="2" charset="-122"/>
                        </a:rPr>
                        <a:t>²</a:t>
                      </a:r>
                      <a:endParaRPr lang="en-US" altLang="zh-CN" sz="1600">
                        <a:solidFill>
                          <a:srgbClr val="000000"/>
                        </a:solidFill>
                        <a:latin typeface="Calibri" panose="020F0502020204030204"/>
                        <a:ea typeface="宋体" panose="02010600030101010101" pitchFamily="2"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0.963187</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0.963198</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0.963186</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r>
            </a:tbl>
          </a:graphicData>
        </a:graphic>
      </p:graphicFrame>
      <p:graphicFrame>
        <p:nvGraphicFramePr>
          <p:cNvPr id="5" name="表格 4"/>
          <p:cNvGraphicFramePr/>
          <p:nvPr/>
        </p:nvGraphicFramePr>
        <p:xfrm>
          <a:off x="577215" y="3074670"/>
          <a:ext cx="7776210" cy="1188085"/>
        </p:xfrm>
        <a:graphic>
          <a:graphicData uri="http://schemas.openxmlformats.org/drawingml/2006/table">
            <a:tbl>
              <a:tblPr/>
              <a:tblGrid>
                <a:gridCol w="1296000"/>
                <a:gridCol w="1296000"/>
                <a:gridCol w="1296000"/>
                <a:gridCol w="1296000"/>
                <a:gridCol w="1296000"/>
                <a:gridCol w="1296000"/>
              </a:tblGrid>
              <a:tr h="360000">
                <a:tc>
                  <a:txBody>
                    <a:bodyPr/>
                    <a:p>
                      <a:pPr algn="ctr">
                        <a:spcBef>
                          <a:spcPct val="0"/>
                        </a:spcBef>
                        <a:spcAft>
                          <a:spcPct val="0"/>
                        </a:spcAft>
                      </a:pPr>
                      <a:endParaRPr sz="1600">
                        <a:solidFill>
                          <a:srgbClr val="000000"/>
                        </a:solidFill>
                        <a:latin typeface="Calibri" panose="020F05020202040302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zh-CN" sz="1600">
                          <a:solidFill>
                            <a:srgbClr val="000000"/>
                          </a:solidFill>
                          <a:latin typeface="Calibri" panose="020F0502020204030204"/>
                          <a:ea typeface="宋体" panose="02010600030101010101" pitchFamily="2" charset="-122"/>
                        </a:rPr>
                        <a:t>二次多项式</a:t>
                      </a:r>
                      <a:endParaRPr lang="zh-CN" sz="1600">
                        <a:solidFill>
                          <a:srgbClr val="000000"/>
                        </a:solidFill>
                        <a:latin typeface="Calibri" panose="020F05020202040302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zh-CN" sz="1600">
                          <a:solidFill>
                            <a:srgbClr val="000000"/>
                          </a:solidFill>
                          <a:latin typeface="Calibri" panose="020F0502020204030204"/>
                          <a:ea typeface="宋体" panose="02010600030101010101" pitchFamily="2" charset="-122"/>
                        </a:rPr>
                        <a:t>三次多项式</a:t>
                      </a:r>
                      <a:endParaRPr lang="zh-CN" sz="1600">
                        <a:solidFill>
                          <a:srgbClr val="000000"/>
                        </a:solidFill>
                        <a:latin typeface="Calibri" panose="020F05020202040302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zh-CN" sz="1600">
                          <a:solidFill>
                            <a:srgbClr val="000000"/>
                          </a:solidFill>
                          <a:latin typeface="Calibri" panose="020F0502020204030204"/>
                          <a:ea typeface="宋体" panose="02010600030101010101" pitchFamily="2" charset="-122"/>
                        </a:rPr>
                        <a:t>四次多项式</a:t>
                      </a:r>
                      <a:endParaRPr lang="zh-CN" sz="1600">
                        <a:solidFill>
                          <a:srgbClr val="000000"/>
                        </a:solidFill>
                        <a:latin typeface="Calibri" panose="020F05020202040302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zh-CN" sz="1600">
                          <a:solidFill>
                            <a:srgbClr val="000000"/>
                          </a:solidFill>
                          <a:latin typeface="Calibri" panose="020F0502020204030204"/>
                          <a:ea typeface="宋体" panose="02010600030101010101" pitchFamily="2" charset="-122"/>
                        </a:rPr>
                        <a:t>回归样条</a:t>
                      </a:r>
                      <a:endParaRPr lang="zh-CN" sz="1600">
                        <a:solidFill>
                          <a:srgbClr val="000000"/>
                        </a:solidFill>
                        <a:latin typeface="Calibri" panose="020F05020202040302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zh-CN" sz="1600">
                          <a:solidFill>
                            <a:srgbClr val="000000"/>
                          </a:solidFill>
                          <a:latin typeface="Calibri" panose="020F0502020204030204"/>
                          <a:ea typeface="宋体" panose="02010600030101010101" pitchFamily="2" charset="-122"/>
                        </a:rPr>
                        <a:t>光滑样条</a:t>
                      </a:r>
                      <a:endParaRPr lang="zh-CN" sz="1600">
                        <a:solidFill>
                          <a:srgbClr val="000000"/>
                        </a:solidFill>
                        <a:latin typeface="Calibri" panose="020F05020202040302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360000">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MSE</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3800.6433</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3147.9057</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3411.8355</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3962.1532</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3895.1454</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r>
              <a:tr h="360000">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R</a:t>
                      </a:r>
                      <a:r>
                        <a:rPr lang="en-US" altLang="zh-CN" sz="1600">
                          <a:solidFill>
                            <a:srgbClr val="000000"/>
                          </a:solidFill>
                          <a:latin typeface="Calibri" panose="020F0502020204030204"/>
                          <a:ea typeface="宋体" panose="02010600030101010101" pitchFamily="2" charset="-122"/>
                        </a:rPr>
                        <a:t>²</a:t>
                      </a:r>
                      <a:endParaRPr lang="en-US" altLang="zh-CN" sz="1600">
                        <a:solidFill>
                          <a:srgbClr val="000000"/>
                        </a:solidFill>
                        <a:latin typeface="Calibri" panose="020F0502020204030204"/>
                        <a:ea typeface="宋体" panose="02010600030101010101" pitchFamily="2"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0.964198</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0.970347</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0.967861</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0.9626</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600">
                          <a:solidFill>
                            <a:srgbClr val="000000"/>
                          </a:solidFill>
                          <a:latin typeface="Calibri" panose="020F0502020204030204"/>
                          <a:ea typeface="Calibri" panose="020F0502020204030204"/>
                        </a:rPr>
                        <a:t>0.963308</a:t>
                      </a:r>
                      <a:endParaRPr lang="en-US" altLang="zh-CN" sz="1600">
                        <a:solidFill>
                          <a:srgbClr val="000000"/>
                        </a:solidFill>
                        <a:latin typeface="Calibri" panose="020F0502020204030204"/>
                        <a:ea typeface="Calibri" panose="020F0502020204030204"/>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r>
            </a:tbl>
          </a:graphicData>
        </a:graphic>
      </p:graphicFrame>
      <p:sp>
        <p:nvSpPr>
          <p:cNvPr id="2" name="矩形 1"/>
          <p:cNvSpPr/>
          <p:nvPr/>
        </p:nvSpPr>
        <p:spPr>
          <a:xfrm>
            <a:off x="3243580" y="2988310"/>
            <a:ext cx="1158875" cy="1242060"/>
          </a:xfrm>
          <a:prstGeom prst="rect">
            <a:avLst/>
          </a:prstGeom>
          <a:noFill/>
          <a:ln w="38100">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内容占位符 6"/>
          <p:cNvSpPr>
            <a:spLocks noGrp="1"/>
          </p:cNvSpPr>
          <p:nvPr>
            <p:ph sz="quarter" idx="10"/>
          </p:nvPr>
        </p:nvSpPr>
        <p:spPr>
          <a:xfrm>
            <a:off x="494030" y="4389120"/>
            <a:ext cx="8372475" cy="2136140"/>
          </a:xfrm>
        </p:spPr>
        <p:txBody>
          <a:bodyPr>
            <a:noAutofit/>
          </a:bodyPr>
          <a:p>
            <a:pPr algn="just">
              <a:lnSpc>
                <a:spcPct val="130000"/>
              </a:lnSpc>
              <a:spcAft>
                <a:spcPts val="0"/>
              </a:spcAft>
              <a:buSzTx/>
            </a:pPr>
            <a:r>
              <a:rPr lang="zh-CN" altLang="en-US" sz="2000">
                <a:latin typeface="+mn-ea"/>
                <a:cs typeface="+mn-ea"/>
                <a:sym typeface="+mn-ea"/>
              </a:rPr>
              <a:t>使用</a:t>
            </a:r>
            <a:r>
              <a:rPr lang="zh-CN" altLang="en-US" sz="2000" b="1">
                <a:solidFill>
                  <a:srgbClr val="C00000"/>
                </a:solidFill>
                <a:latin typeface="+mn-ea"/>
                <a:cs typeface="+mn-ea"/>
                <a:sym typeface="+mn-ea"/>
              </a:rPr>
              <a:t>均方误差（</a:t>
            </a:r>
            <a:r>
              <a:rPr lang="en-US" altLang="zh-CN" sz="2000" b="1">
                <a:solidFill>
                  <a:srgbClr val="C00000"/>
                </a:solidFill>
                <a:latin typeface="+mn-ea"/>
                <a:cs typeface="+mn-ea"/>
                <a:sym typeface="+mn-ea"/>
              </a:rPr>
              <a:t>MSE</a:t>
            </a:r>
            <a:r>
              <a:rPr lang="zh-CN" altLang="en-US" sz="2000" b="1">
                <a:solidFill>
                  <a:srgbClr val="C00000"/>
                </a:solidFill>
                <a:latin typeface="+mn-ea"/>
                <a:cs typeface="+mn-ea"/>
                <a:sym typeface="+mn-ea"/>
              </a:rPr>
              <a:t>）</a:t>
            </a:r>
            <a:r>
              <a:rPr lang="zh-CN" altLang="en-US" sz="2000">
                <a:latin typeface="+mn-ea"/>
                <a:cs typeface="+mn-ea"/>
                <a:sym typeface="+mn-ea"/>
              </a:rPr>
              <a:t>和</a:t>
            </a:r>
            <a:r>
              <a:rPr lang="zh-CN" altLang="en-US" sz="2000" b="1">
                <a:solidFill>
                  <a:srgbClr val="C00000"/>
                </a:solidFill>
                <a:latin typeface="+mn-ea"/>
                <a:cs typeface="+mn-ea"/>
                <a:sym typeface="+mn-ea"/>
              </a:rPr>
              <a:t>决定系数（</a:t>
            </a:r>
            <a:r>
              <a:rPr lang="en-US" altLang="zh-CN" sz="2000" b="1">
                <a:solidFill>
                  <a:srgbClr val="C00000"/>
                </a:solidFill>
                <a:latin typeface="+mn-ea"/>
                <a:cs typeface="+mn-ea"/>
                <a:sym typeface="+mn-ea"/>
              </a:rPr>
              <a:t>R²</a:t>
            </a:r>
            <a:r>
              <a:rPr lang="zh-CN" altLang="en-US" sz="2000" b="1">
                <a:solidFill>
                  <a:srgbClr val="C00000"/>
                </a:solidFill>
                <a:latin typeface="+mn-ea"/>
                <a:cs typeface="+mn-ea"/>
                <a:sym typeface="+mn-ea"/>
              </a:rPr>
              <a:t>）</a:t>
            </a:r>
            <a:r>
              <a:rPr lang="zh-CN" altLang="en-US" sz="2000">
                <a:latin typeface="+mn-ea"/>
                <a:cs typeface="+mn-ea"/>
                <a:sym typeface="+mn-ea"/>
              </a:rPr>
              <a:t>作为主要的评估指标。</a:t>
            </a:r>
            <a:endParaRPr lang="zh-CN" altLang="en-US" sz="2000">
              <a:latin typeface="+mn-ea"/>
              <a:cs typeface="+mn-ea"/>
              <a:sym typeface="+mn-ea"/>
            </a:endParaRPr>
          </a:p>
          <a:p>
            <a:pPr algn="just">
              <a:lnSpc>
                <a:spcPct val="130000"/>
              </a:lnSpc>
              <a:spcAft>
                <a:spcPts val="0"/>
              </a:spcAft>
              <a:buSzTx/>
            </a:pPr>
            <a:r>
              <a:rPr lang="en-US" altLang="zh-CN" sz="2000">
                <a:latin typeface="+mn-ea"/>
                <a:cs typeface="+mn-ea"/>
                <a:sym typeface="+mn-ea"/>
              </a:rPr>
              <a:t>MSE</a:t>
            </a:r>
            <a:r>
              <a:rPr lang="zh-CN" altLang="en-US" sz="2000">
                <a:latin typeface="+mn-ea"/>
                <a:cs typeface="+mn-ea"/>
                <a:sym typeface="+mn-ea"/>
              </a:rPr>
              <a:t>衡量预测值与实际值之间差异的平方的平均值，而</a:t>
            </a:r>
            <a:r>
              <a:rPr lang="en-US" altLang="zh-CN" sz="2000">
                <a:latin typeface="+mn-ea"/>
                <a:cs typeface="+mn-ea"/>
                <a:sym typeface="+mn-ea"/>
              </a:rPr>
              <a:t>R²</a:t>
            </a:r>
            <a:r>
              <a:rPr lang="zh-CN" altLang="en-US" sz="2000">
                <a:latin typeface="+mn-ea"/>
                <a:cs typeface="+mn-ea"/>
                <a:sym typeface="+mn-ea"/>
              </a:rPr>
              <a:t>衡量模型解释的变异性占总变异性的比例</a:t>
            </a:r>
            <a:endParaRPr lang="zh-CN" altLang="en-US" sz="2000">
              <a:latin typeface="+mn-ea"/>
              <a:cs typeface="+mn-ea"/>
              <a:sym typeface="+mn-ea"/>
            </a:endParaRPr>
          </a:p>
          <a:p>
            <a:pPr algn="just">
              <a:lnSpc>
                <a:spcPct val="130000"/>
              </a:lnSpc>
              <a:spcAft>
                <a:spcPts val="0"/>
              </a:spcAft>
              <a:buSzTx/>
            </a:pPr>
            <a:r>
              <a:rPr lang="zh-CN" altLang="en-US" sz="2000" b="0">
                <a:latin typeface="+mn-ea"/>
                <a:cs typeface="+mn-ea"/>
              </a:rPr>
              <a:t>较低的</a:t>
            </a:r>
            <a:r>
              <a:rPr lang="en-US" altLang="zh-CN" sz="2000" b="0">
                <a:latin typeface="+mn-ea"/>
                <a:cs typeface="+mn-ea"/>
              </a:rPr>
              <a:t>MSE</a:t>
            </a:r>
            <a:r>
              <a:rPr lang="zh-CN" altLang="en-US" sz="2000" b="0">
                <a:latin typeface="+mn-ea"/>
                <a:cs typeface="+mn-ea"/>
              </a:rPr>
              <a:t>和较高的</a:t>
            </a:r>
            <a:r>
              <a:rPr lang="en-US" altLang="zh-CN" sz="2000" b="0">
                <a:latin typeface="+mn-ea"/>
                <a:cs typeface="+mn-ea"/>
              </a:rPr>
              <a:t>R</a:t>
            </a:r>
            <a:r>
              <a:rPr lang="en-US" altLang="en-US" sz="2000" b="0">
                <a:latin typeface="+mn-ea"/>
                <a:cs typeface="+mn-ea"/>
              </a:rPr>
              <a:t>²</a:t>
            </a:r>
            <a:r>
              <a:rPr lang="zh-CN" altLang="en-US" sz="2000" b="0">
                <a:latin typeface="+mn-ea"/>
                <a:cs typeface="+mn-ea"/>
              </a:rPr>
              <a:t>值表示模型具有更好的预测性能。此外，模型的复杂性和计算成本也会一并考虑</a:t>
            </a:r>
            <a:endParaRPr lang="zh-CN" altLang="en-US" sz="2000" b="0">
              <a:latin typeface="+mn-ea"/>
              <a:cs typeface="+mn-ea"/>
            </a:endParaRPr>
          </a:p>
          <a:p>
            <a:pPr algn="just">
              <a:lnSpc>
                <a:spcPct val="150000"/>
              </a:lnSpc>
              <a:buSzTx/>
            </a:pPr>
            <a:endParaRPr lang="zh-CN" altLang="en-US" sz="2000" b="0" i="0" dirty="0" smtClean="0">
              <a:solidFill>
                <a:schemeClr val="tx1"/>
              </a:solidFill>
              <a:latin typeface="+mn-ea"/>
              <a:cs typeface="+mn-ea"/>
            </a:endParaRPr>
          </a:p>
        </p:txBody>
      </p:sp>
      <p:pic>
        <p:nvPicPr>
          <p:cNvPr id="18" name="图片 18"/>
          <p:cNvPicPr>
            <a:picLocks noChangeAspect="1"/>
          </p:cNvPicPr>
          <p:nvPr/>
        </p:nvPicPr>
        <p:blipFill>
          <a:blip r:embed="rId1"/>
          <a:stretch>
            <a:fillRect/>
          </a:stretch>
        </p:blipFill>
        <p:spPr>
          <a:xfrm>
            <a:off x="5986145" y="2007553"/>
            <a:ext cx="3020060" cy="584835"/>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带有外生变量的自回归模型（</a:t>
            </a:r>
            <a:r>
              <a:rPr lang="en-US" altLang="zh-CN" dirty="0"/>
              <a:t>ARX</a:t>
            </a:r>
            <a:r>
              <a:rPr lang="zh-CN" altLang="en-US" dirty="0"/>
              <a:t>）</a:t>
            </a:r>
            <a:endParaRPr lang="zh-CN" altLang="en-US" dirty="0"/>
          </a:p>
        </p:txBody>
      </p:sp>
      <p:sp>
        <p:nvSpPr>
          <p:cNvPr id="7" name="内容占位符 6"/>
          <p:cNvSpPr>
            <a:spLocks noGrp="1"/>
          </p:cNvSpPr>
          <p:nvPr>
            <p:ph sz="quarter" idx="10"/>
          </p:nvPr>
        </p:nvSpPr>
        <p:spPr>
          <a:xfrm>
            <a:off x="494030" y="1790700"/>
            <a:ext cx="8372475" cy="4734560"/>
          </a:xfrm>
        </p:spPr>
        <p:txBody>
          <a:bodyPr>
            <a:noAutofit/>
          </a:bodyPr>
          <a:p>
            <a:pPr algn="just">
              <a:lnSpc>
                <a:spcPct val="130000"/>
              </a:lnSpc>
              <a:spcAft>
                <a:spcPts val="0"/>
              </a:spcAft>
              <a:buSzTx/>
            </a:pPr>
            <a:r>
              <a:rPr lang="zh-CN" altLang="en-US" sz="2000" b="0" i="0" dirty="0" smtClean="0">
                <a:solidFill>
                  <a:schemeClr val="tx1"/>
                </a:solidFill>
                <a:latin typeface="+mn-ea"/>
                <a:cs typeface="+mn-ea"/>
              </a:rPr>
              <a:t>用于时间序列预测的线性模型。</a:t>
            </a:r>
            <a:endParaRPr lang="zh-CN" altLang="en-US" sz="2000" b="0" i="0" dirty="0" smtClean="0">
              <a:solidFill>
                <a:schemeClr val="tx1"/>
              </a:solidFill>
              <a:latin typeface="+mn-ea"/>
              <a:cs typeface="+mn-ea"/>
            </a:endParaRPr>
          </a:p>
          <a:p>
            <a:pPr algn="just">
              <a:lnSpc>
                <a:spcPct val="130000"/>
              </a:lnSpc>
              <a:spcAft>
                <a:spcPts val="0"/>
              </a:spcAft>
              <a:buSzTx/>
            </a:pPr>
            <a:r>
              <a:rPr lang="zh-CN" altLang="en-US" sz="2000" b="0" i="0" dirty="0" smtClean="0">
                <a:solidFill>
                  <a:schemeClr val="tx1"/>
                </a:solidFill>
                <a:latin typeface="+mn-ea"/>
                <a:cs typeface="+mn-ea"/>
              </a:rPr>
              <a:t>基于当前时刻的输入变量和过去时刻的输出变量，通过线性组合来预测未来时刻的输出变量。</a:t>
            </a:r>
            <a:endParaRPr lang="zh-CN" altLang="en-US" sz="2000" b="0" i="0" dirty="0" smtClean="0">
              <a:solidFill>
                <a:schemeClr val="tx1"/>
              </a:solidFill>
              <a:latin typeface="+mn-ea"/>
              <a:cs typeface="+mn-ea"/>
            </a:endParaRPr>
          </a:p>
        </p:txBody>
      </p:sp>
      <p:pic>
        <p:nvPicPr>
          <p:cNvPr id="17" name="图片 17"/>
          <p:cNvPicPr>
            <a:picLocks noChangeAspect="1"/>
          </p:cNvPicPr>
          <p:nvPr/>
        </p:nvPicPr>
        <p:blipFill>
          <a:blip r:embed="rId1"/>
          <a:stretch>
            <a:fillRect/>
          </a:stretch>
        </p:blipFill>
        <p:spPr>
          <a:xfrm>
            <a:off x="692150" y="3318510"/>
            <a:ext cx="7320915" cy="1275715"/>
          </a:xfrm>
          <a:prstGeom prst="rect">
            <a:avLst/>
          </a:prstGeom>
          <a:noFill/>
          <a:ln>
            <a:noFill/>
          </a:ln>
        </p:spPr>
      </p:pic>
      <p:graphicFrame>
        <p:nvGraphicFramePr>
          <p:cNvPr id="3" name="表格 2"/>
          <p:cNvGraphicFramePr/>
          <p:nvPr/>
        </p:nvGraphicFramePr>
        <p:xfrm>
          <a:off x="1101407" y="5008880"/>
          <a:ext cx="6912000" cy="1080000"/>
        </p:xfrm>
        <a:graphic>
          <a:graphicData uri="http://schemas.openxmlformats.org/drawingml/2006/table">
            <a:tbl>
              <a:tblPr/>
              <a:tblGrid>
                <a:gridCol w="2304000"/>
                <a:gridCol w="2304000"/>
                <a:gridCol w="2304000"/>
              </a:tblGrid>
              <a:tr h="360000">
                <a:tc>
                  <a:txBody>
                    <a:bodyPr/>
                    <a:p>
                      <a:pPr algn="ctr">
                        <a:spcBef>
                          <a:spcPct val="0"/>
                        </a:spcBef>
                        <a:spcAft>
                          <a:spcPct val="0"/>
                        </a:spcAft>
                      </a:pPr>
                      <a:endParaRPr sz="1800">
                        <a:solidFill>
                          <a:srgbClr val="000000"/>
                        </a:solidFill>
                        <a:latin typeface="Calibri" panose="020F05020202040302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zh-CN" sz="1800">
                          <a:solidFill>
                            <a:srgbClr val="000000"/>
                          </a:solidFill>
                          <a:latin typeface="Calibri" panose="020F0502020204030204"/>
                          <a:ea typeface="宋体" panose="02010600030101010101" pitchFamily="2" charset="-122"/>
                        </a:rPr>
                        <a:t>自回归</a:t>
                      </a:r>
                      <a:r>
                        <a:rPr lang="en-US" altLang="zh-CN" sz="1800">
                          <a:solidFill>
                            <a:srgbClr val="000000"/>
                          </a:solidFill>
                          <a:latin typeface="Calibri" panose="020F0502020204030204"/>
                          <a:ea typeface="宋体" panose="02010600030101010101" pitchFamily="2" charset="-122"/>
                        </a:rPr>
                        <a:t> </a:t>
                      </a:r>
                      <a:r>
                        <a:rPr lang="en-US" altLang="zh-CN" sz="1800">
                          <a:solidFill>
                            <a:srgbClr val="000000"/>
                          </a:solidFill>
                          <a:latin typeface="Calibri" panose="020F0502020204030204"/>
                          <a:ea typeface="Calibri" panose="020F0502020204030204"/>
                        </a:rPr>
                        <a:t>AR</a:t>
                      </a:r>
                      <a:endParaRPr lang="en-US" altLang="zh-CN" sz="1800">
                        <a:solidFill>
                          <a:srgbClr val="000000"/>
                        </a:solidFill>
                        <a:latin typeface="Calibri" panose="020F0502020204030204"/>
                        <a:ea typeface="Calibri" panose="020F0502020204030204"/>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zh-CN" altLang="en-US" sz="1800">
                          <a:solidFill>
                            <a:srgbClr val="000000"/>
                          </a:solidFill>
                          <a:latin typeface="Calibri" panose="020F0502020204030204"/>
                          <a:ea typeface="宋体" panose="02010600030101010101" pitchFamily="2" charset="-122"/>
                        </a:rPr>
                        <a:t>有源自回归</a:t>
                      </a:r>
                      <a:r>
                        <a:rPr lang="en-US" altLang="zh-CN" sz="1800">
                          <a:solidFill>
                            <a:srgbClr val="000000"/>
                          </a:solidFill>
                          <a:latin typeface="Calibri" panose="020F0502020204030204"/>
                          <a:ea typeface="宋体" panose="02010600030101010101" pitchFamily="2" charset="-122"/>
                        </a:rPr>
                        <a:t> </a:t>
                      </a:r>
                      <a:r>
                        <a:rPr lang="en-US" altLang="zh-CN" sz="1800">
                          <a:solidFill>
                            <a:srgbClr val="000000"/>
                          </a:solidFill>
                          <a:latin typeface="Calibri" panose="020F0502020204030204"/>
                          <a:ea typeface="Calibri" panose="020F0502020204030204"/>
                        </a:rPr>
                        <a:t>ARX</a:t>
                      </a:r>
                      <a:endParaRPr lang="zh-CN" sz="1800">
                        <a:solidFill>
                          <a:srgbClr val="000000"/>
                        </a:solidFill>
                        <a:latin typeface="Calibri" panose="020F05020202040302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360000">
                <a:tc>
                  <a:txBody>
                    <a:bodyPr/>
                    <a:p>
                      <a:pPr marL="0" indent="0" algn="ctr">
                        <a:spcBef>
                          <a:spcPct val="0"/>
                        </a:spcBef>
                        <a:spcAft>
                          <a:spcPct val="0"/>
                        </a:spcAft>
                      </a:pPr>
                      <a:r>
                        <a:rPr lang="en-US" altLang="zh-CN" sz="1800">
                          <a:solidFill>
                            <a:srgbClr val="000000"/>
                          </a:solidFill>
                          <a:latin typeface="Calibri" panose="020F0502020204030204"/>
                          <a:ea typeface="Calibri" panose="020F0502020204030204"/>
                        </a:rPr>
                        <a:t>MSE</a:t>
                      </a:r>
                      <a:endParaRPr lang="en-US" altLang="zh-CN" sz="1800">
                        <a:solidFill>
                          <a:srgbClr val="000000"/>
                        </a:solidFill>
                        <a:latin typeface="Calibri" panose="020F0502020204030204"/>
                        <a:ea typeface="Calibri" panose="020F05020202040302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c>
                  <a:txBody>
                    <a:bodyPr/>
                    <a:p>
                      <a:pPr marL="0" indent="0" algn="ctr">
                        <a:spcBef>
                          <a:spcPct val="0"/>
                        </a:spcBef>
                        <a:spcAft>
                          <a:spcPct val="0"/>
                        </a:spcAft>
                      </a:pPr>
                      <a:r>
                        <a:rPr lang="en-US" altLang="zh-CN" sz="1800">
                          <a:solidFill>
                            <a:srgbClr val="000000"/>
                          </a:solidFill>
                          <a:latin typeface="Calibri" panose="020F0502020204030204"/>
                          <a:ea typeface="Calibri" panose="020F0502020204030204"/>
                        </a:rPr>
                        <a:t>109211.1642</a:t>
                      </a:r>
                      <a:endParaRPr lang="en-US" altLang="zh-CN" sz="1800">
                        <a:solidFill>
                          <a:srgbClr val="000000"/>
                        </a:solidFill>
                        <a:latin typeface="Calibri" panose="020F0502020204030204"/>
                        <a:ea typeface="Calibri" panose="020F05020202040302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c>
                  <a:txBody>
                    <a:bodyPr/>
                    <a:p>
                      <a:pPr marL="0" indent="0" algn="ctr">
                        <a:spcBef>
                          <a:spcPct val="0"/>
                        </a:spcBef>
                        <a:spcAft>
                          <a:spcPct val="0"/>
                        </a:spcAft>
                      </a:pPr>
                      <a:r>
                        <a:rPr lang="en-US" altLang="zh-CN" sz="1800">
                          <a:solidFill>
                            <a:srgbClr val="000000"/>
                          </a:solidFill>
                          <a:latin typeface="Calibri" panose="020F0502020204030204"/>
                          <a:ea typeface="Calibri" panose="020F0502020204030204"/>
                        </a:rPr>
                        <a:t>2541.4287</a:t>
                      </a:r>
                      <a:endParaRPr lang="en-US" altLang="zh-CN" sz="1800">
                        <a:solidFill>
                          <a:srgbClr val="000000"/>
                        </a:solidFill>
                        <a:latin typeface="Calibri" panose="020F0502020204030204"/>
                        <a:ea typeface="Calibri" panose="020F05020202040302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solidFill>
                      <a:srgbClr val="FFFFFF"/>
                    </a:solidFill>
                  </a:tcPr>
                </a:tc>
              </a:tr>
              <a:tr h="360000">
                <a:tc>
                  <a:txBody>
                    <a:bodyPr/>
                    <a:p>
                      <a:pPr marL="0" indent="0" algn="ctr">
                        <a:spcBef>
                          <a:spcPct val="0"/>
                        </a:spcBef>
                        <a:spcAft>
                          <a:spcPct val="0"/>
                        </a:spcAft>
                      </a:pPr>
                      <a:r>
                        <a:rPr lang="en-US" altLang="zh-CN" sz="1800">
                          <a:solidFill>
                            <a:srgbClr val="000000"/>
                          </a:solidFill>
                          <a:latin typeface="Calibri" panose="020F0502020204030204"/>
                          <a:ea typeface="Calibri" panose="020F0502020204030204"/>
                        </a:rPr>
                        <a:t>R</a:t>
                      </a:r>
                      <a:r>
                        <a:rPr lang="en-US" altLang="zh-CN" sz="1800">
                          <a:solidFill>
                            <a:srgbClr val="000000"/>
                          </a:solidFill>
                          <a:latin typeface="Calibri" panose="020F0502020204030204"/>
                          <a:ea typeface="宋体" panose="02010600030101010101" pitchFamily="2" charset="-122"/>
                        </a:rPr>
                        <a:t>²</a:t>
                      </a:r>
                      <a:endParaRPr lang="en-US" altLang="zh-CN" sz="1800">
                        <a:solidFill>
                          <a:srgbClr val="000000"/>
                        </a:solidFill>
                        <a:latin typeface="Calibri" panose="020F0502020204030204"/>
                        <a:ea typeface="宋体" panose="02010600030101010101" pitchFamily="2"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800">
                          <a:solidFill>
                            <a:srgbClr val="000000"/>
                          </a:solidFill>
                          <a:latin typeface="Calibri" panose="020F0502020204030204"/>
                          <a:ea typeface="Calibri" panose="020F0502020204030204"/>
                        </a:rPr>
                        <a:t>0.0401</a:t>
                      </a:r>
                      <a:endParaRPr lang="en-US" altLang="zh-CN" sz="1800">
                        <a:solidFill>
                          <a:srgbClr val="000000"/>
                        </a:solidFill>
                        <a:latin typeface="Calibri" panose="020F0502020204030204"/>
                        <a:ea typeface="Calibri" panose="020F0502020204030204"/>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800">
                          <a:solidFill>
                            <a:srgbClr val="000000"/>
                          </a:solidFill>
                          <a:latin typeface="Calibri" panose="020F0502020204030204"/>
                          <a:ea typeface="Calibri" panose="020F0502020204030204"/>
                        </a:rPr>
                        <a:t>0.97766</a:t>
                      </a:r>
                      <a:endParaRPr lang="en-US" altLang="zh-CN" sz="1800">
                        <a:solidFill>
                          <a:srgbClr val="000000"/>
                        </a:solidFill>
                        <a:latin typeface="Calibri" panose="020F0502020204030204"/>
                        <a:ea typeface="Calibri" panose="020F0502020204030204"/>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带有外生变量的自回归模型（</a:t>
            </a:r>
            <a:r>
              <a:rPr lang="en-US" altLang="zh-CN" dirty="0"/>
              <a:t>ARX</a:t>
            </a:r>
            <a:r>
              <a:rPr lang="zh-CN" altLang="en-US" dirty="0"/>
              <a:t>）</a:t>
            </a:r>
            <a:endParaRPr lang="zh-CN" altLang="en-US" dirty="0"/>
          </a:p>
        </p:txBody>
      </p:sp>
      <p:pic>
        <p:nvPicPr>
          <p:cNvPr id="19" name="图片 2"/>
          <p:cNvPicPr>
            <a:picLocks noChangeAspect="1"/>
          </p:cNvPicPr>
          <p:nvPr/>
        </p:nvPicPr>
        <p:blipFill>
          <a:blip r:embed="rId1"/>
          <a:stretch>
            <a:fillRect/>
          </a:stretch>
        </p:blipFill>
        <p:spPr>
          <a:xfrm>
            <a:off x="-3175" y="1724660"/>
            <a:ext cx="9151620" cy="4889500"/>
          </a:xfrm>
          <a:prstGeom prst="rect">
            <a:avLst/>
          </a:prstGeom>
          <a:noFill/>
          <a:ln w="9525">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dirty="0"/>
              <a:t>研究结论与展望</a:t>
            </a:r>
            <a:endParaRPr lang="zh-CN" dirty="0"/>
          </a:p>
        </p:txBody>
      </p:sp>
      <p:sp>
        <p:nvSpPr>
          <p:cNvPr id="7" name="内容占位符 6"/>
          <p:cNvSpPr>
            <a:spLocks noGrp="1"/>
          </p:cNvSpPr>
          <p:nvPr>
            <p:ph sz="quarter" idx="10"/>
          </p:nvPr>
        </p:nvSpPr>
        <p:spPr>
          <a:xfrm>
            <a:off x="494030" y="1790700"/>
            <a:ext cx="8372475" cy="4734560"/>
          </a:xfrm>
        </p:spPr>
        <p:txBody>
          <a:bodyPr>
            <a:noAutofit/>
          </a:bodyPr>
          <a:p>
            <a:pPr algn="just">
              <a:lnSpc>
                <a:spcPct val="130000"/>
              </a:lnSpc>
              <a:spcAft>
                <a:spcPts val="0"/>
              </a:spcAft>
              <a:buSzTx/>
            </a:pPr>
            <a:r>
              <a:rPr lang="zh-CN" altLang="en-US" sz="2000" b="0" i="0" dirty="0" smtClean="0">
                <a:solidFill>
                  <a:schemeClr val="tx1"/>
                </a:solidFill>
                <a:latin typeface="+mn-ea"/>
                <a:cs typeface="+mn-ea"/>
              </a:rPr>
              <a:t>线性回归适用于短期预测，能够提供较为稳定的预测结果</a:t>
            </a:r>
            <a:endParaRPr lang="zh-CN" altLang="en-US" sz="2000" b="0" i="0" dirty="0" smtClean="0">
              <a:solidFill>
                <a:schemeClr val="tx1"/>
              </a:solidFill>
              <a:latin typeface="+mn-ea"/>
              <a:cs typeface="+mn-ea"/>
            </a:endParaRPr>
          </a:p>
          <a:p>
            <a:pPr algn="just">
              <a:lnSpc>
                <a:spcPct val="130000"/>
              </a:lnSpc>
              <a:spcAft>
                <a:spcPts val="0"/>
              </a:spcAft>
              <a:buSzTx/>
            </a:pPr>
            <a:r>
              <a:rPr lang="zh-CN" altLang="en-US" sz="2000" b="0" i="0" dirty="0" smtClean="0">
                <a:solidFill>
                  <a:schemeClr val="tx1"/>
                </a:solidFill>
                <a:latin typeface="+mn-ea"/>
                <a:cs typeface="+mn-ea"/>
              </a:rPr>
              <a:t>多项式回归适用于捕捉数据的非线性关系</a:t>
            </a:r>
            <a:endParaRPr lang="zh-CN" altLang="en-US" sz="2000" b="0" i="0" dirty="0" smtClean="0">
              <a:solidFill>
                <a:schemeClr val="tx1"/>
              </a:solidFill>
              <a:latin typeface="+mn-ea"/>
              <a:cs typeface="+mn-ea"/>
            </a:endParaRPr>
          </a:p>
          <a:p>
            <a:pPr marL="0" indent="0" algn="just">
              <a:lnSpc>
                <a:spcPct val="100000"/>
              </a:lnSpc>
              <a:spcAft>
                <a:spcPts val="0"/>
              </a:spcAft>
              <a:buSzTx/>
              <a:buNone/>
            </a:pPr>
            <a:r>
              <a:rPr lang="en-US" altLang="zh-CN" sz="2000" b="0" i="0" dirty="0" smtClean="0">
                <a:solidFill>
                  <a:schemeClr val="tx1"/>
                </a:solidFill>
                <a:latin typeface="+mn-ea"/>
                <a:cs typeface="+mn-ea"/>
              </a:rPr>
              <a:t>   </a:t>
            </a:r>
            <a:r>
              <a:rPr lang="zh-CN" altLang="en-US" sz="2000" b="0" i="0" dirty="0" smtClean="0">
                <a:solidFill>
                  <a:schemeClr val="tx1"/>
                </a:solidFill>
                <a:latin typeface="+mn-ea"/>
                <a:cs typeface="+mn-ea"/>
              </a:rPr>
              <a:t>在预测上证指数的过程中，三次多项式回归表现最佳。</a:t>
            </a:r>
            <a:endParaRPr lang="zh-CN" altLang="en-US" sz="2000" b="0" i="0" dirty="0" smtClean="0">
              <a:solidFill>
                <a:schemeClr val="tx1"/>
              </a:solidFill>
              <a:latin typeface="+mn-ea"/>
              <a:cs typeface="+mn-ea"/>
            </a:endParaRPr>
          </a:p>
          <a:p>
            <a:pPr algn="just">
              <a:lnSpc>
                <a:spcPct val="130000"/>
              </a:lnSpc>
              <a:spcAft>
                <a:spcPts val="0"/>
              </a:spcAft>
              <a:buSzTx/>
            </a:pPr>
            <a:r>
              <a:rPr lang="en-US" altLang="zh-CN" sz="2000" b="0" i="0" dirty="0" smtClean="0">
                <a:solidFill>
                  <a:schemeClr val="tx1"/>
                </a:solidFill>
                <a:latin typeface="+mn-ea"/>
                <a:cs typeface="+mn-ea"/>
              </a:rPr>
              <a:t>ARX</a:t>
            </a:r>
            <a:r>
              <a:rPr lang="zh-CN" altLang="en-US" sz="2000" b="0" i="0" dirty="0" smtClean="0">
                <a:solidFill>
                  <a:schemeClr val="tx1"/>
                </a:solidFill>
                <a:latin typeface="+mn-ea"/>
                <a:cs typeface="+mn-ea"/>
              </a:rPr>
              <a:t>回归模型证明在处理时间序列数据时，加入外生变量的有效性。</a:t>
            </a:r>
            <a:endParaRPr lang="zh-CN" altLang="en-US" sz="2000" b="0" i="0" dirty="0" smtClean="0">
              <a:solidFill>
                <a:schemeClr val="tx1"/>
              </a:solidFill>
              <a:latin typeface="+mn-ea"/>
              <a:cs typeface="+mn-ea"/>
            </a:endParaRPr>
          </a:p>
          <a:p>
            <a:pPr algn="just">
              <a:lnSpc>
                <a:spcPct val="130000"/>
              </a:lnSpc>
              <a:spcAft>
                <a:spcPts val="0"/>
              </a:spcAft>
              <a:buSzTx/>
            </a:pPr>
            <a:endParaRPr lang="zh-CN" altLang="en-US" sz="2000" b="0" i="0" dirty="0" smtClean="0">
              <a:solidFill>
                <a:schemeClr val="tx1"/>
              </a:solidFill>
              <a:latin typeface="+mn-ea"/>
              <a:cs typeface="+mn-ea"/>
            </a:endParaRPr>
          </a:p>
          <a:p>
            <a:pPr algn="just">
              <a:lnSpc>
                <a:spcPct val="130000"/>
              </a:lnSpc>
              <a:spcAft>
                <a:spcPts val="0"/>
              </a:spcAft>
              <a:buSzTx/>
            </a:pPr>
            <a:r>
              <a:rPr lang="zh-CN" altLang="en-US" sz="2000" b="0" i="0" dirty="0" smtClean="0">
                <a:solidFill>
                  <a:schemeClr val="tx1"/>
                </a:solidFill>
                <a:latin typeface="+mn-ea"/>
                <a:cs typeface="+mn-ea"/>
              </a:rPr>
              <a:t>未来的研究可以考虑进一步优化</a:t>
            </a:r>
            <a:r>
              <a:rPr lang="en-US" altLang="zh-CN" sz="2000" b="0" i="0" dirty="0" smtClean="0">
                <a:solidFill>
                  <a:schemeClr val="tx1"/>
                </a:solidFill>
                <a:latin typeface="+mn-ea"/>
                <a:cs typeface="+mn-ea"/>
              </a:rPr>
              <a:t>ARX</a:t>
            </a:r>
            <a:r>
              <a:rPr lang="zh-CN" altLang="en-US" sz="2000" b="0" i="0" dirty="0" smtClean="0">
                <a:solidFill>
                  <a:schemeClr val="tx1"/>
                </a:solidFill>
                <a:latin typeface="+mn-ea"/>
                <a:cs typeface="+mn-ea"/>
              </a:rPr>
              <a:t>模型的参数，</a:t>
            </a:r>
            <a:endParaRPr lang="zh-CN" altLang="en-US" sz="2000" b="0" i="0" dirty="0" smtClean="0">
              <a:solidFill>
                <a:schemeClr val="tx1"/>
              </a:solidFill>
              <a:latin typeface="+mn-ea"/>
              <a:cs typeface="+mn-ea"/>
            </a:endParaRPr>
          </a:p>
          <a:p>
            <a:pPr algn="just">
              <a:lnSpc>
                <a:spcPct val="130000"/>
              </a:lnSpc>
              <a:spcAft>
                <a:spcPts val="0"/>
              </a:spcAft>
              <a:buSzTx/>
            </a:pPr>
            <a:r>
              <a:rPr lang="zh-CN" altLang="en-US" sz="2000" b="0" i="0" dirty="0" smtClean="0">
                <a:solidFill>
                  <a:schemeClr val="tx1"/>
                </a:solidFill>
                <a:latin typeface="+mn-ea"/>
                <a:cs typeface="+mn-ea"/>
              </a:rPr>
              <a:t>或者结合其他机器学习方法，以进一步提高预测的准确性和鲁棒性。</a:t>
            </a:r>
            <a:endParaRPr lang="zh-CN" altLang="en-US" sz="2000" b="0" i="0" dirty="0" smtClean="0">
              <a:solidFill>
                <a:schemeClr val="tx1"/>
              </a:solidFill>
              <a:latin typeface="+mn-ea"/>
              <a:cs typeface="+mn-ea"/>
            </a:endParaRPr>
          </a:p>
          <a:p>
            <a:pPr algn="just">
              <a:lnSpc>
                <a:spcPct val="130000"/>
              </a:lnSpc>
              <a:spcAft>
                <a:spcPts val="0"/>
              </a:spcAft>
              <a:buSzTx/>
            </a:pPr>
            <a:r>
              <a:rPr lang="zh-CN" altLang="en-US" sz="2000" b="0" i="0" dirty="0" smtClean="0">
                <a:solidFill>
                  <a:schemeClr val="tx1"/>
                </a:solidFill>
                <a:latin typeface="+mn-ea"/>
                <a:cs typeface="+mn-ea"/>
              </a:rPr>
              <a:t>此外，探索更多模型的组合和优化，以及在不同金融时间序列数据上应用</a:t>
            </a:r>
            <a:r>
              <a:rPr lang="en-US" altLang="zh-CN" sz="2000" b="0" i="0" dirty="0" smtClean="0">
                <a:solidFill>
                  <a:schemeClr val="tx1"/>
                </a:solidFill>
                <a:latin typeface="+mn-ea"/>
                <a:cs typeface="+mn-ea"/>
              </a:rPr>
              <a:t>ARX</a:t>
            </a:r>
            <a:r>
              <a:rPr lang="zh-CN" altLang="en-US" sz="2000" b="0" i="0" dirty="0" smtClean="0">
                <a:solidFill>
                  <a:schemeClr val="tx1"/>
                </a:solidFill>
                <a:latin typeface="+mn-ea"/>
                <a:cs typeface="+mn-ea"/>
              </a:rPr>
              <a:t>模型，也是值得进一步研究的方向。</a:t>
            </a:r>
            <a:endParaRPr lang="zh-CN" altLang="en-US" sz="2000" b="0" i="0" dirty="0" smtClean="0">
              <a:solidFill>
                <a:schemeClr val="tx1"/>
              </a:solidFill>
              <a:latin typeface="+mn-ea"/>
              <a:cs typeface="+mn-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423348" y="1816797"/>
            <a:ext cx="2419252" cy="923330"/>
          </a:xfrm>
          <a:prstGeom prst="rect">
            <a:avLst/>
          </a:prstGeom>
          <a:noFill/>
        </p:spPr>
        <p:txBody>
          <a:bodyPr wrap="none" rtlCol="0">
            <a:spAutoFit/>
          </a:bodyPr>
          <a:lstStyle/>
          <a:p>
            <a:r>
              <a:rPr lang="zh-CN" altLang="en-US" sz="5400" b="1" dirty="0" smtClean="0">
                <a:solidFill>
                  <a:schemeClr val="bg1"/>
                </a:solidFill>
              </a:rPr>
              <a:t>谢 谢！</a:t>
            </a:r>
            <a:endParaRPr lang="zh-CN" altLang="en-US" sz="5400" b="1" dirty="0">
              <a:solidFill>
                <a:schemeClr val="bg1"/>
              </a:solidFill>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2.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3.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4.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5.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6.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7.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8.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9.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10.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11.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12.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13.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14.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15.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16.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17.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18.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19.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20.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21.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22.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23.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24.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25.xml><?xml version="1.0" encoding="utf-8"?>
<p:tagLst xmlns:p="http://schemas.openxmlformats.org/presentationml/2006/main">
  <p:tag name="KSO_WM_DIAGRAM_VIRTUALLY_FRAME" val="{&quot;height&quot;:326.924094488189,&quot;left&quot;:145.0027559055118,&quot;top&quot;:100.37275590551181,&quot;width&quot;:429.99448818897633}"/>
</p:tagLst>
</file>

<file path=ppt/tags/tag26.xml><?xml version="1.0" encoding="utf-8"?>
<p:tagLst xmlns:p="http://schemas.openxmlformats.org/presentationml/2006/main">
  <p:tag name="resource_record_key" val="{&quot;70&quot;:[3312479]}"/>
</p:tagLst>
</file>

<file path=ppt/theme/theme1.xml><?xml version="1.0" encoding="utf-8"?>
<a:theme xmlns:a="http://schemas.openxmlformats.org/drawingml/2006/main" name="2016-VI主题">
  <a:themeElements>
    <a:clrScheme name="VI统一色">
      <a:dk1>
        <a:srgbClr val="000000"/>
      </a:dk1>
      <a:lt1>
        <a:srgbClr val="FFFFFF"/>
      </a:lt1>
      <a:dk2>
        <a:srgbClr val="BD9F68"/>
      </a:dk2>
      <a:lt2>
        <a:srgbClr val="B5B5B6"/>
      </a:lt2>
      <a:accent1>
        <a:srgbClr val="C8161E"/>
      </a:accent1>
      <a:accent2>
        <a:srgbClr val="F08300"/>
      </a:accent2>
      <a:accent3>
        <a:srgbClr val="FDD000"/>
      </a:accent3>
      <a:accent4>
        <a:srgbClr val="338D27"/>
      </a:accent4>
      <a:accent5>
        <a:srgbClr val="0086D1"/>
      </a:accent5>
      <a:accent6>
        <a:srgbClr val="004098"/>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Template>
  <TotalTime>0</TotalTime>
  <Words>1878</Words>
  <Application>WPS 演示</Application>
  <PresentationFormat>全屏显示(4:3)</PresentationFormat>
  <Paragraphs>223</Paragraphs>
  <Slides>18</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宋体</vt:lpstr>
      <vt:lpstr>Wingdings</vt:lpstr>
      <vt:lpstr>Calibri</vt:lpstr>
      <vt:lpstr>微软雅黑</vt:lpstr>
      <vt:lpstr>黑体</vt:lpstr>
      <vt:lpstr>Garamond</vt:lpstr>
      <vt:lpstr>Calibri</vt:lpstr>
      <vt:lpstr>等线</vt:lpstr>
      <vt:lpstr>等线 Light</vt:lpstr>
      <vt:lpstr>Arial Unicode MS</vt:lpstr>
      <vt:lpstr>2016-VI主题</vt:lpstr>
      <vt:lpstr>多种回归方法预测上证指数</vt:lpstr>
      <vt:lpstr>目录 Contents</vt:lpstr>
      <vt:lpstr>灵感来源</vt:lpstr>
      <vt:lpstr>研究意义</vt:lpstr>
      <vt:lpstr>数据来源</vt:lpstr>
      <vt:lpstr>数据处理</vt:lpstr>
      <vt:lpstr>数据处理</vt:lpstr>
      <vt:lpstr>自回归模型（AR）</vt:lpstr>
      <vt:lpstr>线性回归</vt:lpstr>
      <vt:lpstr>Lasso回归</vt:lpstr>
      <vt:lpstr>Ridge回归</vt:lpstr>
      <vt:lpstr>多项式回归</vt:lpstr>
      <vt:lpstr>回归样条和光滑样条</vt:lpstr>
      <vt:lpstr>模型评估</vt:lpstr>
      <vt:lpstr>带有外生变量的自回归模型（ARX）</vt:lpstr>
      <vt:lpstr>带有外生变量的自回归模型（ARX）</vt:lpstr>
      <vt:lpstr>研究结论与展望</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微软用户</dc:creator>
  <cp:lastModifiedBy>王翌阳</cp:lastModifiedBy>
  <cp:revision>81</cp:revision>
  <dcterms:created xsi:type="dcterms:W3CDTF">2016-01-21T16:32:00Z</dcterms:created>
  <dcterms:modified xsi:type="dcterms:W3CDTF">2025-11-20T17:31:31Z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C5D3F24531374F7CA4C8D22E74281542_13</vt:lpwstr>
  </property>
  <property fmtid="{D5CDD505-2E9C-101B-9397-08002B2CF9AE}" pid="3" name="KSOProductBuildVer">
    <vt:lpwstr>2052-12.1.0.23542</vt:lpwstr>
  </property>
</Properties>
</file>